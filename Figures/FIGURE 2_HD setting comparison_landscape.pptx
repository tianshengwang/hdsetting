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524" r:id="rId1"/>
  </p:sldMasterIdLst>
  <p:notesMasterIdLst>
    <p:notesMasterId r:id="rId3"/>
  </p:notesMasterIdLst>
  <p:sldIdLst>
    <p:sldId id="797" r:id="rId2"/>
  </p:sldIdLst>
  <p:sldSz cx="51206400" cy="265176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11334"/>
    <a:srgbClr val="F6E6E6"/>
    <a:srgbClr val="DEECF8"/>
    <a:srgbClr val="5B9BD5"/>
    <a:srgbClr val="C1B2FF"/>
    <a:srgbClr val="1987C5"/>
    <a:srgbClr val="000000"/>
    <a:srgbClr val="00BA37"/>
    <a:srgbClr val="619CFF"/>
    <a:srgbClr val="F976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66" autoAdjust="0"/>
    <p:restoredTop sz="97871"/>
  </p:normalViewPr>
  <p:slideViewPr>
    <p:cSldViewPr snapToGrid="0">
      <p:cViewPr varScale="1">
        <p:scale>
          <a:sx n="33" d="100"/>
          <a:sy n="33" d="100"/>
        </p:scale>
        <p:origin x="888" y="272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C6856A-E040-1C4E-B20F-A949D52520A3}" type="datetimeFigureOut">
              <a:rPr lang="en-US" smtClean="0"/>
              <a:t>10/31/24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6800" y="857250"/>
            <a:ext cx="44704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FD3263-DC50-6B4E-BC18-833DD265B3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610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82253" rtl="0" eaLnBrk="1" latinLnBrk="0" hangingPunct="1">
      <a:defRPr sz="1289" kern="1200">
        <a:solidFill>
          <a:schemeClr val="tx1"/>
        </a:solidFill>
        <a:latin typeface="+mn-lt"/>
        <a:ea typeface="+mn-ea"/>
        <a:cs typeface="+mn-cs"/>
      </a:defRPr>
    </a:lvl1pPr>
    <a:lvl2pPr marL="491126" algn="l" defTabSz="982253" rtl="0" eaLnBrk="1" latinLnBrk="0" hangingPunct="1">
      <a:defRPr sz="1289" kern="1200">
        <a:solidFill>
          <a:schemeClr val="tx1"/>
        </a:solidFill>
        <a:latin typeface="+mn-lt"/>
        <a:ea typeface="+mn-ea"/>
        <a:cs typeface="+mn-cs"/>
      </a:defRPr>
    </a:lvl2pPr>
    <a:lvl3pPr marL="982253" algn="l" defTabSz="982253" rtl="0" eaLnBrk="1" latinLnBrk="0" hangingPunct="1">
      <a:defRPr sz="1289" kern="1200">
        <a:solidFill>
          <a:schemeClr val="tx1"/>
        </a:solidFill>
        <a:latin typeface="+mn-lt"/>
        <a:ea typeface="+mn-ea"/>
        <a:cs typeface="+mn-cs"/>
      </a:defRPr>
    </a:lvl3pPr>
    <a:lvl4pPr marL="1473374" algn="l" defTabSz="982253" rtl="0" eaLnBrk="1" latinLnBrk="0" hangingPunct="1">
      <a:defRPr sz="1289" kern="1200">
        <a:solidFill>
          <a:schemeClr val="tx1"/>
        </a:solidFill>
        <a:latin typeface="+mn-lt"/>
        <a:ea typeface="+mn-ea"/>
        <a:cs typeface="+mn-cs"/>
      </a:defRPr>
    </a:lvl4pPr>
    <a:lvl5pPr marL="1964502" algn="l" defTabSz="982253" rtl="0" eaLnBrk="1" latinLnBrk="0" hangingPunct="1">
      <a:defRPr sz="1289" kern="1200">
        <a:solidFill>
          <a:schemeClr val="tx1"/>
        </a:solidFill>
        <a:latin typeface="+mn-lt"/>
        <a:ea typeface="+mn-ea"/>
        <a:cs typeface="+mn-cs"/>
      </a:defRPr>
    </a:lvl5pPr>
    <a:lvl6pPr marL="2455628" algn="l" defTabSz="982253" rtl="0" eaLnBrk="1" latinLnBrk="0" hangingPunct="1">
      <a:defRPr sz="1289" kern="1200">
        <a:solidFill>
          <a:schemeClr val="tx1"/>
        </a:solidFill>
        <a:latin typeface="+mn-lt"/>
        <a:ea typeface="+mn-ea"/>
        <a:cs typeface="+mn-cs"/>
      </a:defRPr>
    </a:lvl6pPr>
    <a:lvl7pPr marL="2946751" algn="l" defTabSz="982253" rtl="0" eaLnBrk="1" latinLnBrk="0" hangingPunct="1">
      <a:defRPr sz="1289" kern="1200">
        <a:solidFill>
          <a:schemeClr val="tx1"/>
        </a:solidFill>
        <a:latin typeface="+mn-lt"/>
        <a:ea typeface="+mn-ea"/>
        <a:cs typeface="+mn-cs"/>
      </a:defRPr>
    </a:lvl7pPr>
    <a:lvl8pPr marL="3437878" algn="l" defTabSz="982253" rtl="0" eaLnBrk="1" latinLnBrk="0" hangingPunct="1">
      <a:defRPr sz="1289" kern="1200">
        <a:solidFill>
          <a:schemeClr val="tx1"/>
        </a:solidFill>
        <a:latin typeface="+mn-lt"/>
        <a:ea typeface="+mn-ea"/>
        <a:cs typeface="+mn-cs"/>
      </a:defRPr>
    </a:lvl8pPr>
    <a:lvl9pPr marL="3929003" algn="l" defTabSz="982253" rtl="0" eaLnBrk="1" latinLnBrk="0" hangingPunct="1">
      <a:defRPr sz="128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B232C-2F51-FA84-1895-85CBE78BA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D1068E-0ECD-1164-76D8-327AFCB7FA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336800" y="857250"/>
            <a:ext cx="4470400" cy="231457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CB0BAA-E10F-9BD6-ACFE-3E3B1D7E33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CE345F-9F2D-4B50-F0DC-1053DDAE96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FD3263-DC50-6B4E-BC18-833DD265B31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859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00800" y="4339804"/>
            <a:ext cx="38404800" cy="9232053"/>
          </a:xfrm>
        </p:spPr>
        <p:txBody>
          <a:bodyPr anchor="b"/>
          <a:lstStyle>
            <a:lvl1pPr algn="ctr">
              <a:defRPr sz="2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00800" y="13927880"/>
            <a:ext cx="38404800" cy="6402280"/>
          </a:xfrm>
        </p:spPr>
        <p:txBody>
          <a:bodyPr/>
          <a:lstStyle>
            <a:lvl1pPr marL="0" indent="0" algn="ctr">
              <a:buNone/>
              <a:defRPr sz="9280"/>
            </a:lvl1pPr>
            <a:lvl2pPr marL="1767855" indent="0" algn="ctr">
              <a:buNone/>
              <a:defRPr sz="7733"/>
            </a:lvl2pPr>
            <a:lvl3pPr marL="3535710" indent="0" algn="ctr">
              <a:buNone/>
              <a:defRPr sz="6960"/>
            </a:lvl3pPr>
            <a:lvl4pPr marL="5303566" indent="0" algn="ctr">
              <a:buNone/>
              <a:defRPr sz="6187"/>
            </a:lvl4pPr>
            <a:lvl5pPr marL="7071421" indent="0" algn="ctr">
              <a:buNone/>
              <a:defRPr sz="6187"/>
            </a:lvl5pPr>
            <a:lvl6pPr marL="8839276" indent="0" algn="ctr">
              <a:buNone/>
              <a:defRPr sz="6187"/>
            </a:lvl6pPr>
            <a:lvl7pPr marL="10607131" indent="0" algn="ctr">
              <a:buNone/>
              <a:defRPr sz="6187"/>
            </a:lvl7pPr>
            <a:lvl8pPr marL="12374987" indent="0" algn="ctr">
              <a:buNone/>
              <a:defRPr sz="6187"/>
            </a:lvl8pPr>
            <a:lvl9pPr marL="14142842" indent="0" algn="ctr">
              <a:buNone/>
              <a:defRPr sz="618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792C3-F8D7-444D-A2D8-129B59FC8844}" type="datetimeFigureOut">
              <a:rPr lang="en-US" smtClean="0"/>
              <a:t>10/31/24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3EEEF-CD4C-4700-8CB7-71DD72596E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592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792C3-F8D7-444D-A2D8-129B59FC8844}" type="datetimeFigureOut">
              <a:rPr lang="en-US" smtClean="0"/>
              <a:t>10/31/24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3EEEF-CD4C-4700-8CB7-71DD72596E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220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3770" y="6610989"/>
            <a:ext cx="44165520" cy="11030583"/>
          </a:xfrm>
        </p:spPr>
        <p:txBody>
          <a:bodyPr anchor="b"/>
          <a:lstStyle>
            <a:lvl1pPr>
              <a:defRPr sz="2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93770" y="17745926"/>
            <a:ext cx="44165520" cy="5800723"/>
          </a:xfrm>
        </p:spPr>
        <p:txBody>
          <a:bodyPr/>
          <a:lstStyle>
            <a:lvl1pPr marL="0" indent="0">
              <a:buNone/>
              <a:defRPr sz="9280">
                <a:solidFill>
                  <a:schemeClr val="tx1">
                    <a:tint val="75000"/>
                  </a:schemeClr>
                </a:solidFill>
              </a:defRPr>
            </a:lvl1pPr>
            <a:lvl2pPr marL="1767855" indent="0">
              <a:buNone/>
              <a:defRPr sz="7733">
                <a:solidFill>
                  <a:schemeClr val="tx1">
                    <a:tint val="75000"/>
                  </a:schemeClr>
                </a:solidFill>
              </a:defRPr>
            </a:lvl2pPr>
            <a:lvl3pPr marL="3535710" indent="0">
              <a:buNone/>
              <a:defRPr sz="6960">
                <a:solidFill>
                  <a:schemeClr val="tx1">
                    <a:tint val="75000"/>
                  </a:schemeClr>
                </a:solidFill>
              </a:defRPr>
            </a:lvl3pPr>
            <a:lvl4pPr marL="5303566" indent="0">
              <a:buNone/>
              <a:defRPr sz="6187">
                <a:solidFill>
                  <a:schemeClr val="tx1">
                    <a:tint val="75000"/>
                  </a:schemeClr>
                </a:solidFill>
              </a:defRPr>
            </a:lvl4pPr>
            <a:lvl5pPr marL="7071421" indent="0">
              <a:buNone/>
              <a:defRPr sz="6187">
                <a:solidFill>
                  <a:schemeClr val="tx1">
                    <a:tint val="75000"/>
                  </a:schemeClr>
                </a:solidFill>
              </a:defRPr>
            </a:lvl5pPr>
            <a:lvl6pPr marL="8839276" indent="0">
              <a:buNone/>
              <a:defRPr sz="6187">
                <a:solidFill>
                  <a:schemeClr val="tx1">
                    <a:tint val="75000"/>
                  </a:schemeClr>
                </a:solidFill>
              </a:defRPr>
            </a:lvl6pPr>
            <a:lvl7pPr marL="10607131" indent="0">
              <a:buNone/>
              <a:defRPr sz="6187">
                <a:solidFill>
                  <a:schemeClr val="tx1">
                    <a:tint val="75000"/>
                  </a:schemeClr>
                </a:solidFill>
              </a:defRPr>
            </a:lvl7pPr>
            <a:lvl8pPr marL="12374987" indent="0">
              <a:buNone/>
              <a:defRPr sz="6187">
                <a:solidFill>
                  <a:schemeClr val="tx1">
                    <a:tint val="75000"/>
                  </a:schemeClr>
                </a:solidFill>
              </a:defRPr>
            </a:lvl8pPr>
            <a:lvl9pPr marL="14142842" indent="0">
              <a:buNone/>
              <a:defRPr sz="618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792C3-F8D7-444D-A2D8-129B59FC8844}" type="datetimeFigureOut">
              <a:rPr lang="en-US" smtClean="0"/>
              <a:t>10/31/24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3EEEF-CD4C-4700-8CB7-71DD72596E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293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20440" y="7059083"/>
            <a:ext cx="21762720" cy="16825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923240" y="7059083"/>
            <a:ext cx="21762720" cy="16825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792C3-F8D7-444D-A2D8-129B59FC8844}" type="datetimeFigureOut">
              <a:rPr lang="en-US" smtClean="0"/>
              <a:t>10/31/24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3EEEF-CD4C-4700-8CB7-71DD72596E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426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7110" y="1411819"/>
            <a:ext cx="44165520" cy="512551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27112" y="6500497"/>
            <a:ext cx="21662705" cy="3185793"/>
          </a:xfrm>
        </p:spPr>
        <p:txBody>
          <a:bodyPr anchor="b"/>
          <a:lstStyle>
            <a:lvl1pPr marL="0" indent="0">
              <a:buNone/>
              <a:defRPr sz="9280" b="1"/>
            </a:lvl1pPr>
            <a:lvl2pPr marL="1767855" indent="0">
              <a:buNone/>
              <a:defRPr sz="7733" b="1"/>
            </a:lvl2pPr>
            <a:lvl3pPr marL="3535710" indent="0">
              <a:buNone/>
              <a:defRPr sz="6960" b="1"/>
            </a:lvl3pPr>
            <a:lvl4pPr marL="5303566" indent="0">
              <a:buNone/>
              <a:defRPr sz="6187" b="1"/>
            </a:lvl4pPr>
            <a:lvl5pPr marL="7071421" indent="0">
              <a:buNone/>
              <a:defRPr sz="6187" b="1"/>
            </a:lvl5pPr>
            <a:lvl6pPr marL="8839276" indent="0">
              <a:buNone/>
              <a:defRPr sz="6187" b="1"/>
            </a:lvl6pPr>
            <a:lvl7pPr marL="10607131" indent="0">
              <a:buNone/>
              <a:defRPr sz="6187" b="1"/>
            </a:lvl7pPr>
            <a:lvl8pPr marL="12374987" indent="0">
              <a:buNone/>
              <a:defRPr sz="6187" b="1"/>
            </a:lvl8pPr>
            <a:lvl9pPr marL="14142842" indent="0">
              <a:buNone/>
              <a:defRPr sz="618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27112" y="9686290"/>
            <a:ext cx="21662705" cy="142470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923240" y="6500497"/>
            <a:ext cx="21769390" cy="3185793"/>
          </a:xfrm>
        </p:spPr>
        <p:txBody>
          <a:bodyPr anchor="b"/>
          <a:lstStyle>
            <a:lvl1pPr marL="0" indent="0">
              <a:buNone/>
              <a:defRPr sz="9280" b="1"/>
            </a:lvl1pPr>
            <a:lvl2pPr marL="1767855" indent="0">
              <a:buNone/>
              <a:defRPr sz="7733" b="1"/>
            </a:lvl2pPr>
            <a:lvl3pPr marL="3535710" indent="0">
              <a:buNone/>
              <a:defRPr sz="6960" b="1"/>
            </a:lvl3pPr>
            <a:lvl4pPr marL="5303566" indent="0">
              <a:buNone/>
              <a:defRPr sz="6187" b="1"/>
            </a:lvl4pPr>
            <a:lvl5pPr marL="7071421" indent="0">
              <a:buNone/>
              <a:defRPr sz="6187" b="1"/>
            </a:lvl5pPr>
            <a:lvl6pPr marL="8839276" indent="0">
              <a:buNone/>
              <a:defRPr sz="6187" b="1"/>
            </a:lvl6pPr>
            <a:lvl7pPr marL="10607131" indent="0">
              <a:buNone/>
              <a:defRPr sz="6187" b="1"/>
            </a:lvl7pPr>
            <a:lvl8pPr marL="12374987" indent="0">
              <a:buNone/>
              <a:defRPr sz="6187" b="1"/>
            </a:lvl8pPr>
            <a:lvl9pPr marL="14142842" indent="0">
              <a:buNone/>
              <a:defRPr sz="618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923240" y="9686290"/>
            <a:ext cx="21769390" cy="142470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792C3-F8D7-444D-A2D8-129B59FC8844}" type="datetimeFigureOut">
              <a:rPr lang="en-US" smtClean="0"/>
              <a:t>10/31/24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3EEEF-CD4C-4700-8CB7-71DD72596E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035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792C3-F8D7-444D-A2D8-129B59FC8844}" type="datetimeFigureOut">
              <a:rPr lang="en-US" smtClean="0"/>
              <a:t>10/31/24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3EEEF-CD4C-4700-8CB7-71DD72596E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794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792C3-F8D7-444D-A2D8-129B59FC8844}" type="datetimeFigureOut">
              <a:rPr lang="en-US" smtClean="0"/>
              <a:t>10/31/24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3EEEF-CD4C-4700-8CB7-71DD72596E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876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7112" y="1767840"/>
            <a:ext cx="16515395" cy="6187440"/>
          </a:xfrm>
        </p:spPr>
        <p:txBody>
          <a:bodyPr anchor="b"/>
          <a:lstStyle>
            <a:lvl1pPr>
              <a:defRPr sz="1237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69390" y="3818045"/>
            <a:ext cx="25923240" cy="18844683"/>
          </a:xfrm>
        </p:spPr>
        <p:txBody>
          <a:bodyPr/>
          <a:lstStyle>
            <a:lvl1pPr>
              <a:defRPr sz="12373"/>
            </a:lvl1pPr>
            <a:lvl2pPr>
              <a:defRPr sz="10827"/>
            </a:lvl2pPr>
            <a:lvl3pPr>
              <a:defRPr sz="9280"/>
            </a:lvl3pPr>
            <a:lvl4pPr>
              <a:defRPr sz="7733"/>
            </a:lvl4pPr>
            <a:lvl5pPr>
              <a:defRPr sz="7733"/>
            </a:lvl5pPr>
            <a:lvl6pPr>
              <a:defRPr sz="7733"/>
            </a:lvl6pPr>
            <a:lvl7pPr>
              <a:defRPr sz="7733"/>
            </a:lvl7pPr>
            <a:lvl8pPr>
              <a:defRPr sz="7733"/>
            </a:lvl8pPr>
            <a:lvl9pPr>
              <a:defRPr sz="77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27112" y="7955280"/>
            <a:ext cx="16515395" cy="14738140"/>
          </a:xfrm>
        </p:spPr>
        <p:txBody>
          <a:bodyPr/>
          <a:lstStyle>
            <a:lvl1pPr marL="0" indent="0">
              <a:buNone/>
              <a:defRPr sz="6187"/>
            </a:lvl1pPr>
            <a:lvl2pPr marL="1767855" indent="0">
              <a:buNone/>
              <a:defRPr sz="5413"/>
            </a:lvl2pPr>
            <a:lvl3pPr marL="3535710" indent="0">
              <a:buNone/>
              <a:defRPr sz="4640"/>
            </a:lvl3pPr>
            <a:lvl4pPr marL="5303566" indent="0">
              <a:buNone/>
              <a:defRPr sz="3867"/>
            </a:lvl4pPr>
            <a:lvl5pPr marL="7071421" indent="0">
              <a:buNone/>
              <a:defRPr sz="3867"/>
            </a:lvl5pPr>
            <a:lvl6pPr marL="8839276" indent="0">
              <a:buNone/>
              <a:defRPr sz="3867"/>
            </a:lvl6pPr>
            <a:lvl7pPr marL="10607131" indent="0">
              <a:buNone/>
              <a:defRPr sz="3867"/>
            </a:lvl7pPr>
            <a:lvl8pPr marL="12374987" indent="0">
              <a:buNone/>
              <a:defRPr sz="3867"/>
            </a:lvl8pPr>
            <a:lvl9pPr marL="14142842" indent="0">
              <a:buNone/>
              <a:defRPr sz="3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792C3-F8D7-444D-A2D8-129B59FC8844}" type="datetimeFigureOut">
              <a:rPr lang="en-US" smtClean="0"/>
              <a:t>10/31/24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3EEEF-CD4C-4700-8CB7-71DD72596E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304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7112" y="1767840"/>
            <a:ext cx="16515395" cy="6187440"/>
          </a:xfrm>
        </p:spPr>
        <p:txBody>
          <a:bodyPr anchor="b"/>
          <a:lstStyle>
            <a:lvl1pPr>
              <a:defRPr sz="1237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769390" y="3818045"/>
            <a:ext cx="25923240" cy="18844683"/>
          </a:xfrm>
        </p:spPr>
        <p:txBody>
          <a:bodyPr anchor="t"/>
          <a:lstStyle>
            <a:lvl1pPr marL="0" indent="0">
              <a:buNone/>
              <a:defRPr sz="12373"/>
            </a:lvl1pPr>
            <a:lvl2pPr marL="1767855" indent="0">
              <a:buNone/>
              <a:defRPr sz="10827"/>
            </a:lvl2pPr>
            <a:lvl3pPr marL="3535710" indent="0">
              <a:buNone/>
              <a:defRPr sz="9280"/>
            </a:lvl3pPr>
            <a:lvl4pPr marL="5303566" indent="0">
              <a:buNone/>
              <a:defRPr sz="7733"/>
            </a:lvl4pPr>
            <a:lvl5pPr marL="7071421" indent="0">
              <a:buNone/>
              <a:defRPr sz="7733"/>
            </a:lvl5pPr>
            <a:lvl6pPr marL="8839276" indent="0">
              <a:buNone/>
              <a:defRPr sz="7733"/>
            </a:lvl6pPr>
            <a:lvl7pPr marL="10607131" indent="0">
              <a:buNone/>
              <a:defRPr sz="7733"/>
            </a:lvl7pPr>
            <a:lvl8pPr marL="12374987" indent="0">
              <a:buNone/>
              <a:defRPr sz="7733"/>
            </a:lvl8pPr>
            <a:lvl9pPr marL="14142842" indent="0">
              <a:buNone/>
              <a:defRPr sz="77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27112" y="7955280"/>
            <a:ext cx="16515395" cy="14738140"/>
          </a:xfrm>
        </p:spPr>
        <p:txBody>
          <a:bodyPr/>
          <a:lstStyle>
            <a:lvl1pPr marL="0" indent="0">
              <a:buNone/>
              <a:defRPr sz="6187"/>
            </a:lvl1pPr>
            <a:lvl2pPr marL="1767855" indent="0">
              <a:buNone/>
              <a:defRPr sz="5413"/>
            </a:lvl2pPr>
            <a:lvl3pPr marL="3535710" indent="0">
              <a:buNone/>
              <a:defRPr sz="4640"/>
            </a:lvl3pPr>
            <a:lvl4pPr marL="5303566" indent="0">
              <a:buNone/>
              <a:defRPr sz="3867"/>
            </a:lvl4pPr>
            <a:lvl5pPr marL="7071421" indent="0">
              <a:buNone/>
              <a:defRPr sz="3867"/>
            </a:lvl5pPr>
            <a:lvl6pPr marL="8839276" indent="0">
              <a:buNone/>
              <a:defRPr sz="3867"/>
            </a:lvl6pPr>
            <a:lvl7pPr marL="10607131" indent="0">
              <a:buNone/>
              <a:defRPr sz="3867"/>
            </a:lvl7pPr>
            <a:lvl8pPr marL="12374987" indent="0">
              <a:buNone/>
              <a:defRPr sz="3867"/>
            </a:lvl8pPr>
            <a:lvl9pPr marL="14142842" indent="0">
              <a:buNone/>
              <a:defRPr sz="3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792C3-F8D7-444D-A2D8-129B59FC8844}" type="datetimeFigureOut">
              <a:rPr lang="en-US" smtClean="0"/>
              <a:t>10/31/24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3EEEF-CD4C-4700-8CB7-71DD72596E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900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792C3-F8D7-444D-A2D8-129B59FC8844}" type="datetimeFigureOut">
              <a:rPr lang="en-US" smtClean="0"/>
              <a:t>10/31/24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3EEEF-CD4C-4700-8CB7-71DD72596E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708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644580" y="1411817"/>
            <a:ext cx="11041380" cy="2247244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20440" y="1411817"/>
            <a:ext cx="32484060" cy="2247244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792C3-F8D7-444D-A2D8-129B59FC8844}" type="datetimeFigureOut">
              <a:rPr lang="en-US" smtClean="0"/>
              <a:t>10/31/24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3EEEF-CD4C-4700-8CB7-71DD72596E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79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20440" y="1411819"/>
            <a:ext cx="44165520" cy="51255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20440" y="7059083"/>
            <a:ext cx="44165520" cy="16825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520440" y="24577888"/>
            <a:ext cx="11521440" cy="14118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6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6792C3-F8D7-444D-A2D8-129B59FC8844}" type="datetimeFigureOut">
              <a:rPr lang="en-US" smtClean="0"/>
              <a:t>10/31/24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62120" y="24577888"/>
            <a:ext cx="17282160" cy="14118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6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164520" y="24577888"/>
            <a:ext cx="11521440" cy="14118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6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33EEEF-CD4C-4700-8CB7-71DD72596E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231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25" r:id="rId1"/>
    <p:sldLayoutId id="2147484526" r:id="rId2"/>
    <p:sldLayoutId id="2147484527" r:id="rId3"/>
    <p:sldLayoutId id="2147484528" r:id="rId4"/>
    <p:sldLayoutId id="2147484529" r:id="rId5"/>
    <p:sldLayoutId id="2147484530" r:id="rId6"/>
    <p:sldLayoutId id="2147484531" r:id="rId7"/>
    <p:sldLayoutId id="2147484532" r:id="rId8"/>
    <p:sldLayoutId id="2147484533" r:id="rId9"/>
    <p:sldLayoutId id="2147484534" r:id="rId10"/>
    <p:sldLayoutId id="2147484535" r:id="rId11"/>
  </p:sldLayoutIdLst>
  <p:txStyles>
    <p:titleStyle>
      <a:lvl1pPr algn="l" defTabSz="3535710" rtl="0" eaLnBrk="1" latinLnBrk="0" hangingPunct="1">
        <a:lnSpc>
          <a:spcPct val="90000"/>
        </a:lnSpc>
        <a:spcBef>
          <a:spcPct val="0"/>
        </a:spcBef>
        <a:buNone/>
        <a:defRPr sz="1701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83928" indent="-883928" algn="l" defTabSz="3535710" rtl="0" eaLnBrk="1" latinLnBrk="0" hangingPunct="1">
        <a:lnSpc>
          <a:spcPct val="90000"/>
        </a:lnSpc>
        <a:spcBef>
          <a:spcPts val="3867"/>
        </a:spcBef>
        <a:buFont typeface="Arial" panose="020B0604020202020204" pitchFamily="34" charset="0"/>
        <a:buChar char="•"/>
        <a:defRPr sz="10827" kern="1200">
          <a:solidFill>
            <a:schemeClr val="tx1"/>
          </a:solidFill>
          <a:latin typeface="+mn-lt"/>
          <a:ea typeface="+mn-ea"/>
          <a:cs typeface="+mn-cs"/>
        </a:defRPr>
      </a:lvl1pPr>
      <a:lvl2pPr marL="2651783" indent="-883928" algn="l" defTabSz="3535710" rtl="0" eaLnBrk="1" latinLnBrk="0" hangingPunct="1">
        <a:lnSpc>
          <a:spcPct val="90000"/>
        </a:lnSpc>
        <a:spcBef>
          <a:spcPts val="1933"/>
        </a:spcBef>
        <a:buFont typeface="Arial" panose="020B0604020202020204" pitchFamily="34" charset="0"/>
        <a:buChar char="•"/>
        <a:defRPr sz="9280" kern="1200">
          <a:solidFill>
            <a:schemeClr val="tx1"/>
          </a:solidFill>
          <a:latin typeface="+mn-lt"/>
          <a:ea typeface="+mn-ea"/>
          <a:cs typeface="+mn-cs"/>
        </a:defRPr>
      </a:lvl2pPr>
      <a:lvl3pPr marL="4419638" indent="-883928" algn="l" defTabSz="3535710" rtl="0" eaLnBrk="1" latinLnBrk="0" hangingPunct="1">
        <a:lnSpc>
          <a:spcPct val="90000"/>
        </a:lnSpc>
        <a:spcBef>
          <a:spcPts val="1933"/>
        </a:spcBef>
        <a:buFont typeface="Arial" panose="020B0604020202020204" pitchFamily="34" charset="0"/>
        <a:buChar char="•"/>
        <a:defRPr sz="7733" kern="1200">
          <a:solidFill>
            <a:schemeClr val="tx1"/>
          </a:solidFill>
          <a:latin typeface="+mn-lt"/>
          <a:ea typeface="+mn-ea"/>
          <a:cs typeface="+mn-cs"/>
        </a:defRPr>
      </a:lvl3pPr>
      <a:lvl4pPr marL="6187493" indent="-883928" algn="l" defTabSz="3535710" rtl="0" eaLnBrk="1" latinLnBrk="0" hangingPunct="1">
        <a:lnSpc>
          <a:spcPct val="90000"/>
        </a:lnSpc>
        <a:spcBef>
          <a:spcPts val="1933"/>
        </a:spcBef>
        <a:buFont typeface="Arial" panose="020B0604020202020204" pitchFamily="34" charset="0"/>
        <a:buChar char="•"/>
        <a:defRPr sz="6960" kern="1200">
          <a:solidFill>
            <a:schemeClr val="tx1"/>
          </a:solidFill>
          <a:latin typeface="+mn-lt"/>
          <a:ea typeface="+mn-ea"/>
          <a:cs typeface="+mn-cs"/>
        </a:defRPr>
      </a:lvl4pPr>
      <a:lvl5pPr marL="7955349" indent="-883928" algn="l" defTabSz="3535710" rtl="0" eaLnBrk="1" latinLnBrk="0" hangingPunct="1">
        <a:lnSpc>
          <a:spcPct val="90000"/>
        </a:lnSpc>
        <a:spcBef>
          <a:spcPts val="1933"/>
        </a:spcBef>
        <a:buFont typeface="Arial" panose="020B0604020202020204" pitchFamily="34" charset="0"/>
        <a:buChar char="•"/>
        <a:defRPr sz="6960" kern="1200">
          <a:solidFill>
            <a:schemeClr val="tx1"/>
          </a:solidFill>
          <a:latin typeface="+mn-lt"/>
          <a:ea typeface="+mn-ea"/>
          <a:cs typeface="+mn-cs"/>
        </a:defRPr>
      </a:lvl5pPr>
      <a:lvl6pPr marL="9723204" indent="-883928" algn="l" defTabSz="3535710" rtl="0" eaLnBrk="1" latinLnBrk="0" hangingPunct="1">
        <a:lnSpc>
          <a:spcPct val="90000"/>
        </a:lnSpc>
        <a:spcBef>
          <a:spcPts val="1933"/>
        </a:spcBef>
        <a:buFont typeface="Arial" panose="020B0604020202020204" pitchFamily="34" charset="0"/>
        <a:buChar char="•"/>
        <a:defRPr sz="6960" kern="1200">
          <a:solidFill>
            <a:schemeClr val="tx1"/>
          </a:solidFill>
          <a:latin typeface="+mn-lt"/>
          <a:ea typeface="+mn-ea"/>
          <a:cs typeface="+mn-cs"/>
        </a:defRPr>
      </a:lvl6pPr>
      <a:lvl7pPr marL="11491059" indent="-883928" algn="l" defTabSz="3535710" rtl="0" eaLnBrk="1" latinLnBrk="0" hangingPunct="1">
        <a:lnSpc>
          <a:spcPct val="90000"/>
        </a:lnSpc>
        <a:spcBef>
          <a:spcPts val="1933"/>
        </a:spcBef>
        <a:buFont typeface="Arial" panose="020B0604020202020204" pitchFamily="34" charset="0"/>
        <a:buChar char="•"/>
        <a:defRPr sz="6960" kern="1200">
          <a:solidFill>
            <a:schemeClr val="tx1"/>
          </a:solidFill>
          <a:latin typeface="+mn-lt"/>
          <a:ea typeface="+mn-ea"/>
          <a:cs typeface="+mn-cs"/>
        </a:defRPr>
      </a:lvl7pPr>
      <a:lvl8pPr marL="13258914" indent="-883928" algn="l" defTabSz="3535710" rtl="0" eaLnBrk="1" latinLnBrk="0" hangingPunct="1">
        <a:lnSpc>
          <a:spcPct val="90000"/>
        </a:lnSpc>
        <a:spcBef>
          <a:spcPts val="1933"/>
        </a:spcBef>
        <a:buFont typeface="Arial" panose="020B0604020202020204" pitchFamily="34" charset="0"/>
        <a:buChar char="•"/>
        <a:defRPr sz="6960" kern="1200">
          <a:solidFill>
            <a:schemeClr val="tx1"/>
          </a:solidFill>
          <a:latin typeface="+mn-lt"/>
          <a:ea typeface="+mn-ea"/>
          <a:cs typeface="+mn-cs"/>
        </a:defRPr>
      </a:lvl8pPr>
      <a:lvl9pPr marL="15026770" indent="-883928" algn="l" defTabSz="3535710" rtl="0" eaLnBrk="1" latinLnBrk="0" hangingPunct="1">
        <a:lnSpc>
          <a:spcPct val="90000"/>
        </a:lnSpc>
        <a:spcBef>
          <a:spcPts val="1933"/>
        </a:spcBef>
        <a:buFont typeface="Arial" panose="020B0604020202020204" pitchFamily="34" charset="0"/>
        <a:buChar char="•"/>
        <a:defRPr sz="6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535710" rtl="0" eaLnBrk="1" latinLnBrk="0" hangingPunct="1">
        <a:defRPr sz="6960" kern="1200">
          <a:solidFill>
            <a:schemeClr val="tx1"/>
          </a:solidFill>
          <a:latin typeface="+mn-lt"/>
          <a:ea typeface="+mn-ea"/>
          <a:cs typeface="+mn-cs"/>
        </a:defRPr>
      </a:lvl1pPr>
      <a:lvl2pPr marL="1767855" algn="l" defTabSz="3535710" rtl="0" eaLnBrk="1" latinLnBrk="0" hangingPunct="1">
        <a:defRPr sz="6960" kern="1200">
          <a:solidFill>
            <a:schemeClr val="tx1"/>
          </a:solidFill>
          <a:latin typeface="+mn-lt"/>
          <a:ea typeface="+mn-ea"/>
          <a:cs typeface="+mn-cs"/>
        </a:defRPr>
      </a:lvl2pPr>
      <a:lvl3pPr marL="3535710" algn="l" defTabSz="3535710" rtl="0" eaLnBrk="1" latinLnBrk="0" hangingPunct="1">
        <a:defRPr sz="6960" kern="1200">
          <a:solidFill>
            <a:schemeClr val="tx1"/>
          </a:solidFill>
          <a:latin typeface="+mn-lt"/>
          <a:ea typeface="+mn-ea"/>
          <a:cs typeface="+mn-cs"/>
        </a:defRPr>
      </a:lvl3pPr>
      <a:lvl4pPr marL="5303566" algn="l" defTabSz="3535710" rtl="0" eaLnBrk="1" latinLnBrk="0" hangingPunct="1">
        <a:defRPr sz="6960" kern="1200">
          <a:solidFill>
            <a:schemeClr val="tx1"/>
          </a:solidFill>
          <a:latin typeface="+mn-lt"/>
          <a:ea typeface="+mn-ea"/>
          <a:cs typeface="+mn-cs"/>
        </a:defRPr>
      </a:lvl4pPr>
      <a:lvl5pPr marL="7071421" algn="l" defTabSz="3535710" rtl="0" eaLnBrk="1" latinLnBrk="0" hangingPunct="1">
        <a:defRPr sz="6960" kern="1200">
          <a:solidFill>
            <a:schemeClr val="tx1"/>
          </a:solidFill>
          <a:latin typeface="+mn-lt"/>
          <a:ea typeface="+mn-ea"/>
          <a:cs typeface="+mn-cs"/>
        </a:defRPr>
      </a:lvl5pPr>
      <a:lvl6pPr marL="8839276" algn="l" defTabSz="3535710" rtl="0" eaLnBrk="1" latinLnBrk="0" hangingPunct="1">
        <a:defRPr sz="696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131" algn="l" defTabSz="3535710" rtl="0" eaLnBrk="1" latinLnBrk="0" hangingPunct="1">
        <a:defRPr sz="6960" kern="1200">
          <a:solidFill>
            <a:schemeClr val="tx1"/>
          </a:solidFill>
          <a:latin typeface="+mn-lt"/>
          <a:ea typeface="+mn-ea"/>
          <a:cs typeface="+mn-cs"/>
        </a:defRPr>
      </a:lvl7pPr>
      <a:lvl8pPr marL="12374987" algn="l" defTabSz="3535710" rtl="0" eaLnBrk="1" latinLnBrk="0" hangingPunct="1">
        <a:defRPr sz="6960" kern="1200">
          <a:solidFill>
            <a:schemeClr val="tx1"/>
          </a:solidFill>
          <a:latin typeface="+mn-lt"/>
          <a:ea typeface="+mn-ea"/>
          <a:cs typeface="+mn-cs"/>
        </a:defRPr>
      </a:lvl8pPr>
      <a:lvl9pPr marL="14142842" algn="l" defTabSz="3535710" rtl="0" eaLnBrk="1" latinLnBrk="0" hangingPunct="1">
        <a:defRPr sz="6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13" Type="http://schemas.openxmlformats.org/officeDocument/2006/relationships/image" Target="../media/image8.tiff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7.tiff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11.tiff"/><Relationship Id="rId5" Type="http://schemas.openxmlformats.org/officeDocument/2006/relationships/image" Target="../media/image3.jpe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451F0-C10B-2372-684B-A42A7CCF3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Rectangle 165">
            <a:extLst>
              <a:ext uri="{FF2B5EF4-FFF2-40B4-BE49-F238E27FC236}">
                <a16:creationId xmlns:a16="http://schemas.microsoft.com/office/drawing/2014/main" id="{809C7B36-A58D-97D6-5A1D-4209FB6D51C8}"/>
              </a:ext>
            </a:extLst>
          </p:cNvPr>
          <p:cNvSpPr/>
          <p:nvPr/>
        </p:nvSpPr>
        <p:spPr>
          <a:xfrm>
            <a:off x="17325109" y="14870408"/>
            <a:ext cx="6145646" cy="516427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AC48B79F-AEFF-A7D1-F1FB-B57778CC2560}"/>
              </a:ext>
            </a:extLst>
          </p:cNvPr>
          <p:cNvSpPr/>
          <p:nvPr/>
        </p:nvSpPr>
        <p:spPr>
          <a:xfrm>
            <a:off x="17081269" y="15102056"/>
            <a:ext cx="6145646" cy="516427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8C185C52-2BAE-F322-7D89-B680FE548BC2}"/>
              </a:ext>
            </a:extLst>
          </p:cNvPr>
          <p:cNvSpPr/>
          <p:nvPr/>
        </p:nvSpPr>
        <p:spPr>
          <a:xfrm>
            <a:off x="17255139" y="2585585"/>
            <a:ext cx="8242376" cy="423703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20871E7B-0957-7085-3AF4-D59EAFF92329}"/>
              </a:ext>
            </a:extLst>
          </p:cNvPr>
          <p:cNvSpPr/>
          <p:nvPr/>
        </p:nvSpPr>
        <p:spPr>
          <a:xfrm>
            <a:off x="16837429" y="15370280"/>
            <a:ext cx="6145646" cy="516427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6E4F6927-93B8-9D25-9582-5A3AA30860D4}"/>
              </a:ext>
            </a:extLst>
          </p:cNvPr>
          <p:cNvSpPr/>
          <p:nvPr/>
        </p:nvSpPr>
        <p:spPr>
          <a:xfrm>
            <a:off x="16562577" y="15655207"/>
            <a:ext cx="6145646" cy="516427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86F9371E-6066-8356-1773-97113ADBF426}"/>
              </a:ext>
            </a:extLst>
          </p:cNvPr>
          <p:cNvSpPr/>
          <p:nvPr/>
        </p:nvSpPr>
        <p:spPr>
          <a:xfrm>
            <a:off x="16288356" y="15983540"/>
            <a:ext cx="6145646" cy="516427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F08B7D0-22F5-C7E7-7F31-17B37C0A549E}"/>
              </a:ext>
            </a:extLst>
          </p:cNvPr>
          <p:cNvSpPr/>
          <p:nvPr/>
        </p:nvSpPr>
        <p:spPr>
          <a:xfrm>
            <a:off x="17052864" y="2815565"/>
            <a:ext cx="8242376" cy="423703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0996FF1-E710-90C8-8A57-8F1F6825DF35}"/>
              </a:ext>
            </a:extLst>
          </p:cNvPr>
          <p:cNvSpPr/>
          <p:nvPr/>
        </p:nvSpPr>
        <p:spPr>
          <a:xfrm>
            <a:off x="16797818" y="3140244"/>
            <a:ext cx="8242376" cy="423703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9C4E905-77E1-E7A4-B79D-862CC011F286}"/>
              </a:ext>
            </a:extLst>
          </p:cNvPr>
          <p:cNvSpPr/>
          <p:nvPr/>
        </p:nvSpPr>
        <p:spPr>
          <a:xfrm>
            <a:off x="16552890" y="3425168"/>
            <a:ext cx="8242376" cy="423703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BC50E38-515F-5C45-06B5-8F556517C4F4}"/>
              </a:ext>
            </a:extLst>
          </p:cNvPr>
          <p:cNvSpPr/>
          <p:nvPr/>
        </p:nvSpPr>
        <p:spPr>
          <a:xfrm>
            <a:off x="16304351" y="3670335"/>
            <a:ext cx="8242376" cy="423703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47CA777-95CC-3E1F-1E95-DF123BF71903}"/>
              </a:ext>
            </a:extLst>
          </p:cNvPr>
          <p:cNvSpPr/>
          <p:nvPr/>
        </p:nvSpPr>
        <p:spPr>
          <a:xfrm>
            <a:off x="16015672" y="16268027"/>
            <a:ext cx="6145646" cy="516427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284AAD9-1D23-CE3A-0EA1-4BDA8BCB9AD7}"/>
              </a:ext>
            </a:extLst>
          </p:cNvPr>
          <p:cNvSpPr/>
          <p:nvPr/>
        </p:nvSpPr>
        <p:spPr>
          <a:xfrm>
            <a:off x="15755675" y="16522099"/>
            <a:ext cx="6145646" cy="516427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AEAA4B-BC3B-72E2-CEA0-41B0F15577A1}"/>
              </a:ext>
            </a:extLst>
          </p:cNvPr>
          <p:cNvSpPr/>
          <p:nvPr/>
        </p:nvSpPr>
        <p:spPr>
          <a:xfrm>
            <a:off x="15483826" y="16783274"/>
            <a:ext cx="6145646" cy="516427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6546D6-11B8-41E3-9964-ECADFA7EEBF8}"/>
              </a:ext>
            </a:extLst>
          </p:cNvPr>
          <p:cNvSpPr/>
          <p:nvPr/>
        </p:nvSpPr>
        <p:spPr>
          <a:xfrm>
            <a:off x="16049305" y="3955262"/>
            <a:ext cx="8242376" cy="423703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ABB76D-2240-5DDD-2B8A-FB67D4B2CE29}"/>
              </a:ext>
            </a:extLst>
          </p:cNvPr>
          <p:cNvSpPr/>
          <p:nvPr/>
        </p:nvSpPr>
        <p:spPr>
          <a:xfrm>
            <a:off x="15234563" y="17061799"/>
            <a:ext cx="6145646" cy="516427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BD80A58C-8C10-C578-E6E2-D712455A5A4A}"/>
              </a:ext>
            </a:extLst>
          </p:cNvPr>
          <p:cNvSpPr/>
          <p:nvPr/>
        </p:nvSpPr>
        <p:spPr>
          <a:xfrm>
            <a:off x="14960974" y="17317905"/>
            <a:ext cx="6145646" cy="516427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2685341-E121-2175-D72F-ABF2497DE3A8}"/>
              </a:ext>
            </a:extLst>
          </p:cNvPr>
          <p:cNvSpPr/>
          <p:nvPr/>
        </p:nvSpPr>
        <p:spPr>
          <a:xfrm>
            <a:off x="15785569" y="4234562"/>
            <a:ext cx="8242376" cy="423703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327815-95FF-F47D-2104-6ADF94813592}"/>
              </a:ext>
            </a:extLst>
          </p:cNvPr>
          <p:cNvSpPr/>
          <p:nvPr/>
        </p:nvSpPr>
        <p:spPr>
          <a:xfrm>
            <a:off x="15534416" y="4535356"/>
            <a:ext cx="8242376" cy="423703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C82106F-F58D-EF06-F289-D29C83340035}"/>
              </a:ext>
            </a:extLst>
          </p:cNvPr>
          <p:cNvSpPr/>
          <p:nvPr/>
        </p:nvSpPr>
        <p:spPr>
          <a:xfrm>
            <a:off x="15283096" y="4836150"/>
            <a:ext cx="8242376" cy="423703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DDF80369-F055-7B87-E3AA-097C0FF6CD40}"/>
              </a:ext>
            </a:extLst>
          </p:cNvPr>
          <p:cNvSpPr/>
          <p:nvPr/>
        </p:nvSpPr>
        <p:spPr>
          <a:xfrm>
            <a:off x="15488552" y="7402199"/>
            <a:ext cx="908949" cy="6610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F72EC88-CC1E-6545-857E-792520733277}"/>
              </a:ext>
            </a:extLst>
          </p:cNvPr>
          <p:cNvSpPr txBox="1"/>
          <p:nvPr/>
        </p:nvSpPr>
        <p:spPr>
          <a:xfrm>
            <a:off x="18984723" y="11898321"/>
            <a:ext cx="2940429" cy="5847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accent5">
                    <a:lumMod val="10000"/>
                  </a:schemeClr>
                </a:solidFill>
              </a:rPr>
              <a:t>age, sex,</a:t>
            </a:r>
            <a:r>
              <a:rPr lang="zh-CN" altLang="en-US" sz="3200" dirty="0">
                <a:solidFill>
                  <a:schemeClr val="accent5">
                    <a:lumMod val="10000"/>
                  </a:schemeClr>
                </a:solidFill>
              </a:rPr>
              <a:t> </a:t>
            </a:r>
            <a:r>
              <a:rPr lang="en-US" sz="3200" dirty="0">
                <a:solidFill>
                  <a:schemeClr val="accent5">
                    <a:lumMod val="10000"/>
                  </a:schemeClr>
                </a:solidFill>
              </a:rPr>
              <a:t>race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C124B74-41C9-2B18-65AF-7D7EE8DC6BE5}"/>
              </a:ext>
            </a:extLst>
          </p:cNvPr>
          <p:cNvSpPr txBox="1"/>
          <p:nvPr/>
        </p:nvSpPr>
        <p:spPr>
          <a:xfrm>
            <a:off x="15593788" y="514691"/>
            <a:ext cx="944043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000" b="1" dirty="0"/>
              <a:t>Generate</a:t>
            </a:r>
            <a:r>
              <a:rPr lang="zh-CN" altLang="en-US" sz="5000" b="1" dirty="0"/>
              <a:t> </a:t>
            </a:r>
            <a:r>
              <a:rPr lang="en-US" altLang="zh-CN" sz="5000" b="1" dirty="0"/>
              <a:t>HD</a:t>
            </a:r>
            <a:r>
              <a:rPr lang="en-US" sz="5000" b="1" dirty="0"/>
              <a:t> variables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611CC90-7410-9CFD-4B3C-6BB72F63733E}"/>
              </a:ext>
            </a:extLst>
          </p:cNvPr>
          <p:cNvSpPr txBox="1"/>
          <p:nvPr/>
        </p:nvSpPr>
        <p:spPr>
          <a:xfrm>
            <a:off x="20188466" y="11046315"/>
            <a:ext cx="471604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500" dirty="0"/>
              <a:t>+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8B98B73-BCBD-5054-858F-4DBD57536EF2}"/>
              </a:ext>
            </a:extLst>
          </p:cNvPr>
          <p:cNvSpPr txBox="1"/>
          <p:nvPr/>
        </p:nvSpPr>
        <p:spPr>
          <a:xfrm>
            <a:off x="16406181" y="5463293"/>
            <a:ext cx="6589282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>
                    <a:lumMod val="10000"/>
                  </a:schemeClr>
                </a:solidFill>
              </a:rPr>
              <a:t>    Zero: 0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C44C2C6-BBFE-8694-71F1-D92ADFBA7FA6}"/>
              </a:ext>
            </a:extLst>
          </p:cNvPr>
          <p:cNvSpPr/>
          <p:nvPr/>
        </p:nvSpPr>
        <p:spPr>
          <a:xfrm>
            <a:off x="15026663" y="5136944"/>
            <a:ext cx="8242376" cy="423703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ABE91BF-C0A8-D082-F74C-060BAE5681F9}"/>
              </a:ext>
            </a:extLst>
          </p:cNvPr>
          <p:cNvSpPr/>
          <p:nvPr/>
        </p:nvSpPr>
        <p:spPr>
          <a:xfrm>
            <a:off x="16546002" y="6277449"/>
            <a:ext cx="6425921" cy="28792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48C938A-7506-1D82-353E-4B888B5F2B49}"/>
              </a:ext>
            </a:extLst>
          </p:cNvPr>
          <p:cNvSpPr txBox="1"/>
          <p:nvPr/>
        </p:nvSpPr>
        <p:spPr>
          <a:xfrm>
            <a:off x="16749166" y="6440519"/>
            <a:ext cx="6196738" cy="255454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>
                    <a:lumMod val="10000"/>
                  </a:schemeClr>
                </a:solidFill>
              </a:rPr>
              <a:t>Once: 1</a:t>
            </a:r>
          </a:p>
          <a:p>
            <a:r>
              <a:rPr lang="en-US" sz="3200" b="1" dirty="0">
                <a:solidFill>
                  <a:schemeClr val="accent5">
                    <a:lumMod val="10000"/>
                  </a:schemeClr>
                </a:solidFill>
              </a:rPr>
              <a:t> </a:t>
            </a:r>
          </a:p>
          <a:p>
            <a:r>
              <a:rPr lang="en-US" sz="3200" b="1" dirty="0">
                <a:solidFill>
                  <a:schemeClr val="accent5">
                    <a:lumMod val="10000"/>
                  </a:schemeClr>
                </a:solidFill>
              </a:rPr>
              <a:t>Sporadic:  2 ≤ and ≤ 75</a:t>
            </a:r>
            <a:r>
              <a:rPr lang="en-US" sz="3200" b="1" baseline="30000" dirty="0">
                <a:solidFill>
                  <a:schemeClr val="accent5">
                    <a:lumMod val="10000"/>
                  </a:schemeClr>
                </a:solidFill>
              </a:rPr>
              <a:t>th</a:t>
            </a:r>
            <a:r>
              <a:rPr lang="en-US" sz="3200" b="1" dirty="0">
                <a:solidFill>
                  <a:schemeClr val="accent5">
                    <a:lumMod val="10000"/>
                  </a:schemeClr>
                </a:solidFill>
              </a:rPr>
              <a:t> percentile</a:t>
            </a:r>
          </a:p>
          <a:p>
            <a:r>
              <a:rPr lang="en-US" sz="3200" b="1" dirty="0">
                <a:solidFill>
                  <a:schemeClr val="accent5">
                    <a:lumMod val="10000"/>
                  </a:schemeClr>
                </a:solidFill>
              </a:rPr>
              <a:t> </a:t>
            </a:r>
          </a:p>
          <a:p>
            <a:r>
              <a:rPr lang="en-US" sz="3200" b="1" dirty="0">
                <a:solidFill>
                  <a:schemeClr val="accent5">
                    <a:lumMod val="10000"/>
                  </a:schemeClr>
                </a:solidFill>
              </a:rPr>
              <a:t>Frequent:   &gt; 75</a:t>
            </a:r>
            <a:r>
              <a:rPr lang="en-US" sz="3200" b="1" baseline="30000" dirty="0">
                <a:solidFill>
                  <a:schemeClr val="accent5">
                    <a:lumMod val="10000"/>
                  </a:schemeClr>
                </a:solidFill>
              </a:rPr>
              <a:t>th</a:t>
            </a:r>
            <a:r>
              <a:rPr lang="en-US" sz="3200" b="1" dirty="0">
                <a:solidFill>
                  <a:schemeClr val="accent5">
                    <a:lumMod val="10000"/>
                  </a:schemeClr>
                </a:solidFill>
              </a:rPr>
              <a:t> percentile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717265F2-CE78-89E0-B5CF-BCA6542E8A8A}"/>
              </a:ext>
            </a:extLst>
          </p:cNvPr>
          <p:cNvSpPr/>
          <p:nvPr/>
        </p:nvSpPr>
        <p:spPr>
          <a:xfrm>
            <a:off x="15278224" y="6336030"/>
            <a:ext cx="173486" cy="167885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7B1E04F7-60C8-CD7A-6DA1-71D36F598512}"/>
              </a:ext>
            </a:extLst>
          </p:cNvPr>
          <p:cNvSpPr/>
          <p:nvPr/>
        </p:nvSpPr>
        <p:spPr>
          <a:xfrm>
            <a:off x="15543231" y="7436411"/>
            <a:ext cx="173287" cy="58505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0638E034-45E2-AC00-52DF-E2F6B7BB5CEA}"/>
              </a:ext>
            </a:extLst>
          </p:cNvPr>
          <p:cNvSpPr/>
          <p:nvPr/>
        </p:nvSpPr>
        <p:spPr>
          <a:xfrm>
            <a:off x="15820051" y="7808258"/>
            <a:ext cx="164980" cy="21678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785C2FBA-66E9-DA4D-F560-666AB29DB122}"/>
              </a:ext>
            </a:extLst>
          </p:cNvPr>
          <p:cNvSpPr/>
          <p:nvPr/>
        </p:nvSpPr>
        <p:spPr>
          <a:xfrm>
            <a:off x="16074793" y="7891322"/>
            <a:ext cx="150531" cy="13775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F3D05426-F396-6015-1D1A-3489D981B286}"/>
              </a:ext>
            </a:extLst>
          </p:cNvPr>
          <p:cNvSpPr txBox="1"/>
          <p:nvPr/>
        </p:nvSpPr>
        <p:spPr>
          <a:xfrm>
            <a:off x="15224083" y="8010171"/>
            <a:ext cx="11288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0   1   2   3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C8195D8-D3AE-48E2-EB71-9444516D5F3A}"/>
              </a:ext>
            </a:extLst>
          </p:cNvPr>
          <p:cNvSpPr txBox="1"/>
          <p:nvPr/>
        </p:nvSpPr>
        <p:spPr>
          <a:xfrm>
            <a:off x="15822057" y="18137077"/>
            <a:ext cx="5076796" cy="584775"/>
          </a:xfrm>
          <a:prstGeom prst="rect">
            <a:avLst/>
          </a:prstGeom>
          <a:solidFill>
            <a:srgbClr val="F6E6E6"/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zh-CN" altLang="en-US" sz="3200" b="1" dirty="0"/>
              <a:t> ≥ </a:t>
            </a:r>
            <a:r>
              <a:rPr lang="en-US" altLang="zh-CN" sz="3200" b="1" dirty="0"/>
              <a:t>Once:</a:t>
            </a:r>
            <a:endParaRPr lang="en-US" sz="3200" b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412BDD8-D66E-C099-5309-CCA9F37D94AA}"/>
              </a:ext>
            </a:extLst>
          </p:cNvPr>
          <p:cNvSpPr txBox="1"/>
          <p:nvPr/>
        </p:nvSpPr>
        <p:spPr>
          <a:xfrm>
            <a:off x="15790560" y="19824134"/>
            <a:ext cx="5108294" cy="584775"/>
          </a:xfrm>
          <a:prstGeom prst="rect">
            <a:avLst/>
          </a:prstGeom>
          <a:solidFill>
            <a:srgbClr val="F6E6E6"/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zh-CN" altLang="en-US" sz="3200" b="1" dirty="0"/>
              <a:t> </a:t>
            </a:r>
            <a:r>
              <a:rPr lang="en-US" altLang="zh-CN" sz="3200" b="1" dirty="0"/>
              <a:t>Sporadic:</a:t>
            </a:r>
            <a:r>
              <a:rPr lang="zh-CN" altLang="en-US" sz="3200" b="1" dirty="0"/>
              <a:t> ≥ </a:t>
            </a:r>
            <a:r>
              <a:rPr lang="en-US" altLang="zh-CN" sz="3200" b="1" dirty="0"/>
              <a:t>median</a:t>
            </a:r>
            <a:endParaRPr lang="en-US" sz="3200" b="1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A536250-3CA9-7A58-FC1B-A7A9F685BAE6}"/>
              </a:ext>
            </a:extLst>
          </p:cNvPr>
          <p:cNvSpPr txBox="1"/>
          <p:nvPr/>
        </p:nvSpPr>
        <p:spPr>
          <a:xfrm>
            <a:off x="15790532" y="21537826"/>
            <a:ext cx="5108321" cy="584775"/>
          </a:xfrm>
          <a:prstGeom prst="rect">
            <a:avLst/>
          </a:prstGeom>
          <a:solidFill>
            <a:srgbClr val="F6E6E6"/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zh-CN" altLang="en-US" sz="3200" b="1" dirty="0"/>
              <a:t> </a:t>
            </a:r>
            <a:r>
              <a:rPr lang="en-US" altLang="zh-CN" sz="3200" b="1" dirty="0"/>
              <a:t>Frequent:</a:t>
            </a:r>
            <a:r>
              <a:rPr lang="zh-CN" altLang="en-US" sz="3200" b="1" dirty="0"/>
              <a:t> ≥ </a:t>
            </a:r>
            <a:r>
              <a:rPr lang="en-US" altLang="zh-CN" sz="3200" b="1" dirty="0"/>
              <a:t>75th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percentile</a:t>
            </a:r>
            <a:r>
              <a:rPr lang="zh-CN" altLang="en-US" sz="3200" b="1" dirty="0"/>
              <a:t> </a:t>
            </a:r>
            <a:endParaRPr lang="en-US" sz="3200" b="1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825C9C3-1A1F-64E8-831A-E3D21DEDE249}"/>
              </a:ext>
            </a:extLst>
          </p:cNvPr>
          <p:cNvSpPr/>
          <p:nvPr/>
        </p:nvSpPr>
        <p:spPr>
          <a:xfrm>
            <a:off x="15163686" y="17478550"/>
            <a:ext cx="173486" cy="1230799"/>
          </a:xfrm>
          <a:prstGeom prst="rect">
            <a:avLst/>
          </a:prstGeom>
          <a:solidFill>
            <a:srgbClr val="C113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12443E2C-BC9D-4731-C791-1B38FC65110D}"/>
              </a:ext>
            </a:extLst>
          </p:cNvPr>
          <p:cNvSpPr/>
          <p:nvPr/>
        </p:nvSpPr>
        <p:spPr>
          <a:xfrm>
            <a:off x="15428693" y="18340407"/>
            <a:ext cx="173287" cy="369332"/>
          </a:xfrm>
          <a:prstGeom prst="rect">
            <a:avLst/>
          </a:prstGeom>
          <a:solidFill>
            <a:srgbClr val="C113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5DA61E2-E7B8-745B-CC0B-E0196798D4A9}"/>
              </a:ext>
            </a:extLst>
          </p:cNvPr>
          <p:cNvSpPr txBox="1"/>
          <p:nvPr/>
        </p:nvSpPr>
        <p:spPr>
          <a:xfrm>
            <a:off x="15109519" y="18704631"/>
            <a:ext cx="577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0   1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31E75B2B-2230-DF7A-3DE6-17DD07F63658}"/>
              </a:ext>
            </a:extLst>
          </p:cNvPr>
          <p:cNvSpPr/>
          <p:nvPr/>
        </p:nvSpPr>
        <p:spPr>
          <a:xfrm>
            <a:off x="15171693" y="19405587"/>
            <a:ext cx="173486" cy="1010431"/>
          </a:xfrm>
          <a:prstGeom prst="rect">
            <a:avLst/>
          </a:prstGeom>
          <a:solidFill>
            <a:srgbClr val="C113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8CE7DC04-9FE8-636A-AEFB-6E46BD0CC80E}"/>
              </a:ext>
            </a:extLst>
          </p:cNvPr>
          <p:cNvSpPr/>
          <p:nvPr/>
        </p:nvSpPr>
        <p:spPr>
          <a:xfrm>
            <a:off x="15436690" y="20170535"/>
            <a:ext cx="173287" cy="245881"/>
          </a:xfrm>
          <a:prstGeom prst="rect">
            <a:avLst/>
          </a:prstGeom>
          <a:solidFill>
            <a:srgbClr val="C113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C86120D8-6F78-E85E-28D7-9FB9A06F3385}"/>
              </a:ext>
            </a:extLst>
          </p:cNvPr>
          <p:cNvSpPr txBox="1"/>
          <p:nvPr/>
        </p:nvSpPr>
        <p:spPr>
          <a:xfrm>
            <a:off x="15117522" y="20411295"/>
            <a:ext cx="577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0   1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4C913C0A-81E4-54B6-FBCB-1A3E6578A5A6}"/>
              </a:ext>
            </a:extLst>
          </p:cNvPr>
          <p:cNvSpPr/>
          <p:nvPr/>
        </p:nvSpPr>
        <p:spPr>
          <a:xfrm>
            <a:off x="15163686" y="21021280"/>
            <a:ext cx="173486" cy="1096293"/>
          </a:xfrm>
          <a:prstGeom prst="rect">
            <a:avLst/>
          </a:prstGeom>
          <a:solidFill>
            <a:srgbClr val="C113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3BBF91C8-5008-C7B1-3650-3F19B2AB60D1}"/>
              </a:ext>
            </a:extLst>
          </p:cNvPr>
          <p:cNvSpPr/>
          <p:nvPr/>
        </p:nvSpPr>
        <p:spPr>
          <a:xfrm>
            <a:off x="15428679" y="21896184"/>
            <a:ext cx="173287" cy="221787"/>
          </a:xfrm>
          <a:prstGeom prst="rect">
            <a:avLst/>
          </a:prstGeom>
          <a:solidFill>
            <a:srgbClr val="C113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D85C0533-E474-6A82-4E77-6E78EF340F9B}"/>
              </a:ext>
            </a:extLst>
          </p:cNvPr>
          <p:cNvSpPr txBox="1"/>
          <p:nvPr/>
        </p:nvSpPr>
        <p:spPr>
          <a:xfrm>
            <a:off x="15109516" y="22112850"/>
            <a:ext cx="577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0   1</a:t>
            </a: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22159464-FBA5-BBE9-296E-7C5042A38994}"/>
              </a:ext>
            </a:extLst>
          </p:cNvPr>
          <p:cNvSpPr/>
          <p:nvPr/>
        </p:nvSpPr>
        <p:spPr>
          <a:xfrm>
            <a:off x="147666" y="9312556"/>
            <a:ext cx="12786764" cy="705434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274DE658-2A38-D1C8-FE4F-48B956351764}"/>
              </a:ext>
            </a:extLst>
          </p:cNvPr>
          <p:cNvSpPr txBox="1"/>
          <p:nvPr/>
        </p:nvSpPr>
        <p:spPr>
          <a:xfrm>
            <a:off x="356180" y="13146540"/>
            <a:ext cx="2303308" cy="15696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accent5">
                    <a:lumMod val="10000"/>
                  </a:schemeClr>
                </a:solidFill>
              </a:rPr>
              <a:t>Inpatient Diagnosis</a:t>
            </a:r>
          </a:p>
          <a:p>
            <a:pPr algn="ctr"/>
            <a:r>
              <a:rPr lang="en-US" sz="3200" dirty="0">
                <a:solidFill>
                  <a:schemeClr val="accent5">
                    <a:lumMod val="10000"/>
                  </a:schemeClr>
                </a:solidFill>
              </a:rPr>
              <a:t>(ICD-10)</a:t>
            </a: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1148C00A-4EB3-AB0C-990C-6A0066399E9E}"/>
              </a:ext>
            </a:extLst>
          </p:cNvPr>
          <p:cNvSpPr/>
          <p:nvPr/>
        </p:nvSpPr>
        <p:spPr>
          <a:xfrm>
            <a:off x="334451" y="9454864"/>
            <a:ext cx="12361678" cy="17962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400" dirty="0">
                <a:solidFill>
                  <a:schemeClr val="tx1"/>
                </a:solidFill>
              </a:rPr>
              <a:t>Identify covariates: </a:t>
            </a:r>
            <a:r>
              <a:rPr lang="en-US" sz="3400" i="1" dirty="0">
                <a:solidFill>
                  <a:schemeClr val="tx1"/>
                </a:solidFill>
              </a:rPr>
              <a:t>n</a:t>
            </a:r>
            <a:r>
              <a:rPr lang="en-US" sz="3400" dirty="0">
                <a:solidFill>
                  <a:schemeClr val="tx1"/>
                </a:solidFill>
              </a:rPr>
              <a:t>=200 most prevalent codes (3 digits for ICD-10 codes, 5 digits for CPT codes, and 3</a:t>
            </a:r>
            <a:r>
              <a:rPr lang="en-US" sz="3400" baseline="30000" dirty="0">
                <a:solidFill>
                  <a:schemeClr val="tx1"/>
                </a:solidFill>
              </a:rPr>
              <a:t>rd</a:t>
            </a:r>
            <a:r>
              <a:rPr lang="en-US" sz="3400" dirty="0">
                <a:solidFill>
                  <a:schemeClr val="tx1"/>
                </a:solidFill>
              </a:rPr>
              <a:t> level of ATC codes) from the </a:t>
            </a:r>
            <a:r>
              <a:rPr lang="en-US" sz="3400" i="1" dirty="0">
                <a:solidFill>
                  <a:schemeClr val="tx1"/>
                </a:solidFill>
              </a:rPr>
              <a:t>p</a:t>
            </a:r>
            <a:r>
              <a:rPr lang="en-US" sz="3400" dirty="0">
                <a:solidFill>
                  <a:schemeClr val="tx1"/>
                </a:solidFill>
              </a:rPr>
              <a:t>=5 dimensions in healthcare claims data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B411CC6E-F528-0C12-E3EC-91530A94823B}"/>
              </a:ext>
            </a:extLst>
          </p:cNvPr>
          <p:cNvSpPr txBox="1"/>
          <p:nvPr/>
        </p:nvSpPr>
        <p:spPr>
          <a:xfrm>
            <a:off x="2851125" y="13146963"/>
            <a:ext cx="2382237" cy="15696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accent5">
                    <a:lumMod val="10000"/>
                  </a:schemeClr>
                </a:solidFill>
              </a:rPr>
              <a:t>Inpatient Procedure (CPT)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2C3A2BD8-1146-EF2E-B68E-217EC88DC73B}"/>
              </a:ext>
            </a:extLst>
          </p:cNvPr>
          <p:cNvSpPr txBox="1"/>
          <p:nvPr/>
        </p:nvSpPr>
        <p:spPr>
          <a:xfrm>
            <a:off x="5426237" y="13169457"/>
            <a:ext cx="2328578" cy="15696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accent5">
                    <a:lumMod val="10000"/>
                  </a:schemeClr>
                </a:solidFill>
              </a:rPr>
              <a:t>Outpatient Diagnosis (ICD-10)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7756F005-A23B-87C7-2378-C3C635754E8D}"/>
              </a:ext>
            </a:extLst>
          </p:cNvPr>
          <p:cNvSpPr txBox="1"/>
          <p:nvPr/>
        </p:nvSpPr>
        <p:spPr>
          <a:xfrm>
            <a:off x="7967049" y="13170653"/>
            <a:ext cx="2376624" cy="15696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accent5">
                    <a:lumMod val="10000"/>
                  </a:schemeClr>
                </a:solidFill>
              </a:rPr>
              <a:t>Outpatient Procedure (CPT)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0B3F9C1D-4EA5-6CCC-4FC1-8CDBC10F4276}"/>
              </a:ext>
            </a:extLst>
          </p:cNvPr>
          <p:cNvSpPr txBox="1"/>
          <p:nvPr/>
        </p:nvSpPr>
        <p:spPr>
          <a:xfrm>
            <a:off x="10508865" y="13168568"/>
            <a:ext cx="2225803" cy="15696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accent5">
                    <a:lumMod val="10000"/>
                  </a:schemeClr>
                </a:solidFill>
              </a:rPr>
              <a:t>Drug</a:t>
            </a:r>
            <a:r>
              <a:rPr lang="en-US" sz="3200" dirty="0">
                <a:solidFill>
                  <a:schemeClr val="accent5">
                    <a:lumMod val="10000"/>
                  </a:schemeClr>
                </a:solidFill>
              </a:rPr>
              <a:t> dispensing</a:t>
            </a:r>
          </a:p>
          <a:p>
            <a:pPr algn="ctr"/>
            <a:r>
              <a:rPr lang="en-US" sz="3200" dirty="0">
                <a:solidFill>
                  <a:schemeClr val="accent5">
                    <a:lumMod val="10000"/>
                  </a:schemeClr>
                </a:solidFill>
              </a:rPr>
              <a:t>(ATC)</a:t>
            </a:r>
          </a:p>
        </p:txBody>
      </p:sp>
      <p:pic>
        <p:nvPicPr>
          <p:cNvPr id="1024" name="Picture 1023">
            <a:extLst>
              <a:ext uri="{FF2B5EF4-FFF2-40B4-BE49-F238E27FC236}">
                <a16:creationId xmlns:a16="http://schemas.microsoft.com/office/drawing/2014/main" id="{E5105AF6-8291-C8C6-D8F5-E303BC2E50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686" y="11598645"/>
            <a:ext cx="1590775" cy="1284856"/>
          </a:xfrm>
          <a:prstGeom prst="rect">
            <a:avLst/>
          </a:prstGeom>
        </p:spPr>
      </p:pic>
      <p:cxnSp>
        <p:nvCxnSpPr>
          <p:cNvPr id="1025" name="Straight Connector 1024">
            <a:extLst>
              <a:ext uri="{FF2B5EF4-FFF2-40B4-BE49-F238E27FC236}">
                <a16:creationId xmlns:a16="http://schemas.microsoft.com/office/drawing/2014/main" id="{B2305DFC-9EC6-6521-E913-06203CAF1BE4}"/>
              </a:ext>
            </a:extLst>
          </p:cNvPr>
          <p:cNvCxnSpPr>
            <a:cxnSpLocks/>
          </p:cNvCxnSpPr>
          <p:nvPr/>
        </p:nvCxnSpPr>
        <p:spPr>
          <a:xfrm>
            <a:off x="1608481" y="12092558"/>
            <a:ext cx="170751" cy="158303"/>
          </a:xfrm>
          <a:prstGeom prst="line">
            <a:avLst/>
          </a:prstGeom>
          <a:ln w="38100">
            <a:solidFill>
              <a:srgbClr val="1987C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1025">
            <a:extLst>
              <a:ext uri="{FF2B5EF4-FFF2-40B4-BE49-F238E27FC236}">
                <a16:creationId xmlns:a16="http://schemas.microsoft.com/office/drawing/2014/main" id="{7B8882CC-26BD-98F7-A994-50CF13331C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5932" y="11658393"/>
            <a:ext cx="1590775" cy="1284856"/>
          </a:xfrm>
          <a:prstGeom prst="rect">
            <a:avLst/>
          </a:prstGeom>
        </p:spPr>
      </p:pic>
      <p:pic>
        <p:nvPicPr>
          <p:cNvPr id="1027" name="Picture 1026">
            <a:extLst>
              <a:ext uri="{FF2B5EF4-FFF2-40B4-BE49-F238E27FC236}">
                <a16:creationId xmlns:a16="http://schemas.microsoft.com/office/drawing/2014/main" id="{EF67BAC8-490E-5F16-7EC5-3A507862F6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5660" y="11529022"/>
            <a:ext cx="481499" cy="784966"/>
          </a:xfrm>
          <a:prstGeom prst="rect">
            <a:avLst/>
          </a:prstGeom>
        </p:spPr>
      </p:pic>
      <p:cxnSp>
        <p:nvCxnSpPr>
          <p:cNvPr id="1028" name="Straight Connector 1027">
            <a:extLst>
              <a:ext uri="{FF2B5EF4-FFF2-40B4-BE49-F238E27FC236}">
                <a16:creationId xmlns:a16="http://schemas.microsoft.com/office/drawing/2014/main" id="{CE96FC6E-A49F-0ACF-CAFE-2F73D39A9FA6}"/>
              </a:ext>
            </a:extLst>
          </p:cNvPr>
          <p:cNvCxnSpPr>
            <a:cxnSpLocks/>
          </p:cNvCxnSpPr>
          <p:nvPr/>
        </p:nvCxnSpPr>
        <p:spPr>
          <a:xfrm flipV="1">
            <a:off x="3304640" y="11499142"/>
            <a:ext cx="0" cy="378152"/>
          </a:xfrm>
          <a:prstGeom prst="line">
            <a:avLst/>
          </a:prstGeom>
          <a:ln w="31750">
            <a:solidFill>
              <a:srgbClr val="1987C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0" name="Straight Connector 1029">
            <a:extLst>
              <a:ext uri="{FF2B5EF4-FFF2-40B4-BE49-F238E27FC236}">
                <a16:creationId xmlns:a16="http://schemas.microsoft.com/office/drawing/2014/main" id="{A22CE938-B34C-6C4B-FE30-76D642786FF6}"/>
              </a:ext>
            </a:extLst>
          </p:cNvPr>
          <p:cNvCxnSpPr>
            <a:cxnSpLocks/>
          </p:cNvCxnSpPr>
          <p:nvPr/>
        </p:nvCxnSpPr>
        <p:spPr>
          <a:xfrm flipH="1">
            <a:off x="3289817" y="11495885"/>
            <a:ext cx="696556" cy="0"/>
          </a:xfrm>
          <a:prstGeom prst="line">
            <a:avLst/>
          </a:prstGeom>
          <a:ln w="31750">
            <a:solidFill>
              <a:srgbClr val="1987C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1" name="Picture 10" descr="Doctor Patient Icon">
            <a:extLst>
              <a:ext uri="{FF2B5EF4-FFF2-40B4-BE49-F238E27FC236}">
                <a16:creationId xmlns:a16="http://schemas.microsoft.com/office/drawing/2014/main" id="{9047FA4E-4BFE-2942-4EF2-9998F21CAE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12" t="25909" r="48655" b="18270"/>
          <a:stretch/>
        </p:blipFill>
        <p:spPr bwMode="auto">
          <a:xfrm>
            <a:off x="5946730" y="11609020"/>
            <a:ext cx="852662" cy="1332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1031">
            <a:extLst>
              <a:ext uri="{FF2B5EF4-FFF2-40B4-BE49-F238E27FC236}">
                <a16:creationId xmlns:a16="http://schemas.microsoft.com/office/drawing/2014/main" id="{990437F2-8B7F-8C65-FA45-3C52D54E7B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5601" y="11660183"/>
            <a:ext cx="660400" cy="673100"/>
          </a:xfrm>
          <a:prstGeom prst="rect">
            <a:avLst/>
          </a:prstGeom>
        </p:spPr>
      </p:pic>
      <p:pic>
        <p:nvPicPr>
          <p:cNvPr id="1036" name="Picture 10" descr="Doctor Patient Icon">
            <a:extLst>
              <a:ext uri="{FF2B5EF4-FFF2-40B4-BE49-F238E27FC236}">
                <a16:creationId xmlns:a16="http://schemas.microsoft.com/office/drawing/2014/main" id="{3E6A7DE4-4772-39D7-BAAA-8F67E816BC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12" t="25909" r="48655" b="18270"/>
          <a:stretch/>
        </p:blipFill>
        <p:spPr bwMode="auto">
          <a:xfrm>
            <a:off x="8531128" y="11604672"/>
            <a:ext cx="852662" cy="1332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7" name="Picture 14" descr="Hemoglobin A1C Test | Order Online | TrueHealthLabs.com">
            <a:extLst>
              <a:ext uri="{FF2B5EF4-FFF2-40B4-BE49-F238E27FC236}">
                <a16:creationId xmlns:a16="http://schemas.microsoft.com/office/drawing/2014/main" id="{CFC295F2-4A9F-633C-CA6A-5A118260F0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46" t="3337" r="19688" b="38500"/>
          <a:stretch/>
        </p:blipFill>
        <p:spPr bwMode="auto">
          <a:xfrm flipH="1">
            <a:off x="9340171" y="11860561"/>
            <a:ext cx="625169" cy="650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8" descr="RX Prescription Drugs Pill Bottle 25377623 Vector Art at Vecteezy">
            <a:extLst>
              <a:ext uri="{FF2B5EF4-FFF2-40B4-BE49-F238E27FC236}">
                <a16:creationId xmlns:a16="http://schemas.microsoft.com/office/drawing/2014/main" id="{9E43BC82-A572-BF49-CC44-8182DECBEB7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41" t="14627" r="29818" b="14370"/>
          <a:stretch/>
        </p:blipFill>
        <p:spPr bwMode="auto">
          <a:xfrm>
            <a:off x="11220336" y="11529058"/>
            <a:ext cx="755095" cy="1332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0" name="TextBox 1039">
            <a:extLst>
              <a:ext uri="{FF2B5EF4-FFF2-40B4-BE49-F238E27FC236}">
                <a16:creationId xmlns:a16="http://schemas.microsoft.com/office/drawing/2014/main" id="{12D46BB0-486E-ECC8-5125-A7AACE16C352}"/>
              </a:ext>
            </a:extLst>
          </p:cNvPr>
          <p:cNvSpPr txBox="1"/>
          <p:nvPr/>
        </p:nvSpPr>
        <p:spPr>
          <a:xfrm>
            <a:off x="11299429" y="11990586"/>
            <a:ext cx="600074" cy="5847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5">
                    <a:lumMod val="10000"/>
                  </a:schemeClr>
                </a:solidFill>
              </a:rPr>
              <a:t>Rx</a:t>
            </a:r>
            <a:endParaRPr lang="en-US" sz="3200" dirty="0"/>
          </a:p>
        </p:txBody>
      </p: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47D6C52F-68FA-FF6E-A62F-F159B551B95E}"/>
              </a:ext>
            </a:extLst>
          </p:cNvPr>
          <p:cNvSpPr/>
          <p:nvPr/>
        </p:nvSpPr>
        <p:spPr>
          <a:xfrm>
            <a:off x="417644" y="14981512"/>
            <a:ext cx="12364951" cy="1134525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/>
          </a:p>
        </p:txBody>
      </p:sp>
      <p:sp>
        <p:nvSpPr>
          <p:cNvPr id="1046" name="TextBox 1045">
            <a:extLst>
              <a:ext uri="{FF2B5EF4-FFF2-40B4-BE49-F238E27FC236}">
                <a16:creationId xmlns:a16="http://schemas.microsoft.com/office/drawing/2014/main" id="{DDE213F0-8FE4-F17A-C9E0-C64B5689C976}"/>
              </a:ext>
            </a:extLst>
          </p:cNvPr>
          <p:cNvSpPr txBox="1"/>
          <p:nvPr/>
        </p:nvSpPr>
        <p:spPr>
          <a:xfrm>
            <a:off x="789300" y="14994149"/>
            <a:ext cx="1187665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Subtract all prevalences that are larger than 0.5 from 1.0</a:t>
            </a:r>
          </a:p>
          <a:p>
            <a:r>
              <a:rPr lang="en-US" sz="3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Require prevalence &gt; cutoff </a:t>
            </a:r>
            <a:r>
              <a:rPr lang="en-US" sz="3200" i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sz="3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(e.g., 1%) </a:t>
            </a: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47" name="Down Arrow 1046">
            <a:extLst>
              <a:ext uri="{FF2B5EF4-FFF2-40B4-BE49-F238E27FC236}">
                <a16:creationId xmlns:a16="http://schemas.microsoft.com/office/drawing/2014/main" id="{E22F5515-C80D-32C6-6F0D-C018B9463A04}"/>
              </a:ext>
            </a:extLst>
          </p:cNvPr>
          <p:cNvSpPr/>
          <p:nvPr/>
        </p:nvSpPr>
        <p:spPr>
          <a:xfrm rot="16200000">
            <a:off x="13532338" y="15124193"/>
            <a:ext cx="538653" cy="1685203"/>
          </a:xfrm>
          <a:prstGeom prst="downArrow">
            <a:avLst/>
          </a:prstGeom>
          <a:solidFill>
            <a:srgbClr val="C113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33"/>
          </a:p>
        </p:txBody>
      </p:sp>
      <p:sp>
        <p:nvSpPr>
          <p:cNvPr id="1048" name="Down Arrow 1047">
            <a:extLst>
              <a:ext uri="{FF2B5EF4-FFF2-40B4-BE49-F238E27FC236}">
                <a16:creationId xmlns:a16="http://schemas.microsoft.com/office/drawing/2014/main" id="{A60A8C82-9340-A4CD-6C36-32856D64D0BD}"/>
              </a:ext>
            </a:extLst>
          </p:cNvPr>
          <p:cNvSpPr/>
          <p:nvPr/>
        </p:nvSpPr>
        <p:spPr>
          <a:xfrm rot="16200000">
            <a:off x="13584685" y="9054764"/>
            <a:ext cx="538653" cy="1685203"/>
          </a:xfrm>
          <a:prstGeom prst="downArrow">
            <a:avLst/>
          </a:prstGeom>
          <a:solidFill>
            <a:srgbClr val="5B9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33"/>
          </a:p>
        </p:txBody>
      </p:sp>
      <p:sp>
        <p:nvSpPr>
          <p:cNvPr id="5" name="Down Arrow 4">
            <a:extLst>
              <a:ext uri="{FF2B5EF4-FFF2-40B4-BE49-F238E27FC236}">
                <a16:creationId xmlns:a16="http://schemas.microsoft.com/office/drawing/2014/main" id="{505D36FE-A4C4-9100-67F7-E657D9141B50}"/>
              </a:ext>
            </a:extLst>
          </p:cNvPr>
          <p:cNvSpPr/>
          <p:nvPr/>
        </p:nvSpPr>
        <p:spPr>
          <a:xfrm>
            <a:off x="32107724" y="4966343"/>
            <a:ext cx="339820" cy="474368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F11E088-811A-9E70-3D9C-BBAF8396296E}"/>
              </a:ext>
            </a:extLst>
          </p:cNvPr>
          <p:cNvSpPr/>
          <p:nvPr/>
        </p:nvSpPr>
        <p:spPr>
          <a:xfrm>
            <a:off x="27737097" y="1890554"/>
            <a:ext cx="9251721" cy="1088388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4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59A7C87-E22D-45DC-AF10-D5705385A0AC}"/>
              </a:ext>
            </a:extLst>
          </p:cNvPr>
          <p:cNvSpPr/>
          <p:nvPr/>
        </p:nvSpPr>
        <p:spPr>
          <a:xfrm>
            <a:off x="27890085" y="2064508"/>
            <a:ext cx="8907788" cy="26737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7780B7-6056-85CC-C3AA-F71F28EE5736}"/>
              </a:ext>
            </a:extLst>
          </p:cNvPr>
          <p:cNvSpPr/>
          <p:nvPr/>
        </p:nvSpPr>
        <p:spPr>
          <a:xfrm>
            <a:off x="27894641" y="5493548"/>
            <a:ext cx="8924671" cy="257422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115F758-EFDD-42DD-3F4B-E37B7C95870E}"/>
              </a:ext>
            </a:extLst>
          </p:cNvPr>
          <p:cNvSpPr/>
          <p:nvPr/>
        </p:nvSpPr>
        <p:spPr>
          <a:xfrm>
            <a:off x="27898147" y="8813940"/>
            <a:ext cx="8894235" cy="3745027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81DCC7-A381-7A33-A7A4-9D1EE7D37A94}"/>
              </a:ext>
            </a:extLst>
          </p:cNvPr>
          <p:cNvSpPr txBox="1"/>
          <p:nvPr/>
        </p:nvSpPr>
        <p:spPr>
          <a:xfrm>
            <a:off x="27899861" y="2064508"/>
            <a:ext cx="8898012" cy="55399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000" dirty="0"/>
              <a:t>Input: data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042E9BA-22F1-E80D-1D70-F644202120B0}"/>
                  </a:ext>
                </a:extLst>
              </p:cNvPr>
              <p:cNvSpPr txBox="1"/>
              <p:nvPr/>
            </p:nvSpPr>
            <p:spPr>
              <a:xfrm>
                <a:off x="27898147" y="4147007"/>
                <a:ext cx="8898011" cy="56650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3000" dirty="0"/>
                  <a:t>Output: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</m:acc>
                  </m:oMath>
                </a14:m>
                <a:endParaRPr lang="en-US" sz="3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042E9BA-22F1-E80D-1D70-F644202120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98147" y="4147007"/>
                <a:ext cx="8898011" cy="566502"/>
              </a:xfrm>
              <a:prstGeom prst="rect">
                <a:avLst/>
              </a:prstGeom>
              <a:blipFill>
                <a:blip r:embed="rId9"/>
                <a:stretch>
                  <a:fillRect l="-1567" t="-10870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D98FF93-E528-8340-E943-0D725F515FB0}"/>
                  </a:ext>
                </a:extLst>
              </p:cNvPr>
              <p:cNvSpPr txBox="1"/>
              <p:nvPr/>
            </p:nvSpPr>
            <p:spPr>
              <a:xfrm>
                <a:off x="27890870" y="5489398"/>
                <a:ext cx="8901513" cy="56650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3000" dirty="0"/>
                  <a:t>Input: data</a:t>
                </a:r>
                <a14:m>
                  <m:oMath xmlns:m="http://schemas.openxmlformats.org/officeDocument/2006/math">
                    <m:r>
                      <a:rPr lang="en-US" altLang="zh-CN" sz="3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acc>
                      <m:accPr>
                        <m:chr m:val="̂"/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</m:acc>
                  </m:oMath>
                </a14:m>
                <a:endParaRPr lang="en-US" sz="3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D98FF93-E528-8340-E943-0D725F515F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90870" y="5489398"/>
                <a:ext cx="8901513" cy="566502"/>
              </a:xfrm>
              <a:prstGeom prst="rect">
                <a:avLst/>
              </a:prstGeom>
              <a:blipFill>
                <a:blip r:embed="rId10"/>
                <a:stretch>
                  <a:fillRect l="-1712" t="-13333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6CD38B04-08BA-0F4F-10FA-A0BE5F6219D3}"/>
              </a:ext>
            </a:extLst>
          </p:cNvPr>
          <p:cNvSpPr txBox="1"/>
          <p:nvPr/>
        </p:nvSpPr>
        <p:spPr>
          <a:xfrm>
            <a:off x="27879289" y="7513765"/>
            <a:ext cx="8924671" cy="55399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000" dirty="0"/>
              <a:t>Output: PS trimmed data</a:t>
            </a:r>
          </a:p>
        </p:txBody>
      </p:sp>
      <p:sp>
        <p:nvSpPr>
          <p:cNvPr id="22" name="Down Arrow 21">
            <a:extLst>
              <a:ext uri="{FF2B5EF4-FFF2-40B4-BE49-F238E27FC236}">
                <a16:creationId xmlns:a16="http://schemas.microsoft.com/office/drawing/2014/main" id="{0822DCC0-B0A3-1964-3A32-DBB2CCF7A371}"/>
              </a:ext>
            </a:extLst>
          </p:cNvPr>
          <p:cNvSpPr/>
          <p:nvPr/>
        </p:nvSpPr>
        <p:spPr>
          <a:xfrm>
            <a:off x="32107724" y="8237954"/>
            <a:ext cx="339820" cy="474368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E829172-36F5-D254-99C9-214A1A495FF0}"/>
              </a:ext>
            </a:extLst>
          </p:cNvPr>
          <p:cNvSpPr txBox="1"/>
          <p:nvPr/>
        </p:nvSpPr>
        <p:spPr>
          <a:xfrm>
            <a:off x="27892981" y="8818712"/>
            <a:ext cx="8894234" cy="55399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000" dirty="0"/>
              <a:t>Input: PS trimmed data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4E849B3-874B-580B-EB24-CBD9F12822A4}"/>
                  </a:ext>
                </a:extLst>
              </p:cNvPr>
              <p:cNvSpPr txBox="1"/>
              <p:nvPr/>
            </p:nvSpPr>
            <p:spPr>
              <a:xfrm>
                <a:off x="27899870" y="11974192"/>
                <a:ext cx="8905786" cy="58477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3000" dirty="0"/>
                  <a:t>Input: PS trimmed data with new </a:t>
                </a:r>
                <a14:m>
                  <m:oMath xmlns:m="http://schemas.openxmlformats.org/officeDocument/2006/math">
                    <m:r>
                      <a:rPr lang="en-US" sz="3200" b="1" i="1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endParaRPr lang="en-US" sz="30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4E849B3-874B-580B-EB24-CBD9F12822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99870" y="11974192"/>
                <a:ext cx="8905786" cy="584775"/>
              </a:xfrm>
              <a:prstGeom prst="rect">
                <a:avLst/>
              </a:prstGeom>
              <a:blipFill>
                <a:blip r:embed="rId11"/>
                <a:stretch>
                  <a:fillRect l="-1565" t="-6383" b="-29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0F772A76-7B19-7697-D0C3-DAC2E20C2F0A}"/>
              </a:ext>
            </a:extLst>
          </p:cNvPr>
          <p:cNvSpPr txBox="1"/>
          <p:nvPr/>
        </p:nvSpPr>
        <p:spPr>
          <a:xfrm>
            <a:off x="29209567" y="9665134"/>
            <a:ext cx="740280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HD feature preparation</a:t>
            </a:r>
            <a:r>
              <a:rPr lang="en-US" altLang="zh-CN" sz="3200" dirty="0"/>
              <a:t>: combine the level with a low count (&lt; </a:t>
            </a:r>
            <a:r>
              <a:rPr lang="en-US" altLang="zh-CN" sz="3200" i="1" dirty="0"/>
              <a:t>m</a:t>
            </a:r>
            <a:r>
              <a:rPr lang="en-US" altLang="zh-CN" sz="3200" dirty="0"/>
              <a:t>) with the next level with a higher count until each level has ≥ </a:t>
            </a:r>
            <a:r>
              <a:rPr lang="en-US" altLang="zh-CN" sz="3200" i="1" dirty="0"/>
              <a:t>m</a:t>
            </a:r>
            <a:r>
              <a:rPr lang="en-US" altLang="zh-CN" sz="3200" dirty="0"/>
              <a:t> observations. </a:t>
            </a:r>
            <a:endParaRPr lang="en-US" sz="32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08B5F99-C6D3-57D1-B36F-4F38C15A61D4}"/>
              </a:ext>
            </a:extLst>
          </p:cNvPr>
          <p:cNvSpPr/>
          <p:nvPr/>
        </p:nvSpPr>
        <p:spPr>
          <a:xfrm>
            <a:off x="28119170" y="9521344"/>
            <a:ext cx="151992" cy="95276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51DE397-62E6-57A7-080D-47629749B6DB}"/>
              </a:ext>
            </a:extLst>
          </p:cNvPr>
          <p:cNvSpPr/>
          <p:nvPr/>
        </p:nvSpPr>
        <p:spPr>
          <a:xfrm>
            <a:off x="28314803" y="10157337"/>
            <a:ext cx="151992" cy="31681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667DE5D-8E66-A0A7-DBA1-A3326E472BF2}"/>
              </a:ext>
            </a:extLst>
          </p:cNvPr>
          <p:cNvSpPr/>
          <p:nvPr/>
        </p:nvSpPr>
        <p:spPr>
          <a:xfrm>
            <a:off x="28499366" y="10343736"/>
            <a:ext cx="151992" cy="13040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9118BC8-7CB9-5C67-06A1-47EC823ACA35}"/>
              </a:ext>
            </a:extLst>
          </p:cNvPr>
          <p:cNvSpPr/>
          <p:nvPr/>
        </p:nvSpPr>
        <p:spPr>
          <a:xfrm flipV="1">
            <a:off x="28687074" y="10390944"/>
            <a:ext cx="151992" cy="8798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360AD92-B7BE-A074-49FE-D712E7646E53}"/>
              </a:ext>
            </a:extLst>
          </p:cNvPr>
          <p:cNvSpPr/>
          <p:nvPr/>
        </p:nvSpPr>
        <p:spPr>
          <a:xfrm>
            <a:off x="28119170" y="10864985"/>
            <a:ext cx="151992" cy="95276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9BA2FA6-2080-52B9-331A-25E562B9875B}"/>
              </a:ext>
            </a:extLst>
          </p:cNvPr>
          <p:cNvSpPr/>
          <p:nvPr/>
        </p:nvSpPr>
        <p:spPr>
          <a:xfrm>
            <a:off x="28314803" y="11500978"/>
            <a:ext cx="151992" cy="31681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78B2F86-9FC3-DFAD-DFCC-CDE547C162E0}"/>
              </a:ext>
            </a:extLst>
          </p:cNvPr>
          <p:cNvSpPr txBox="1"/>
          <p:nvPr/>
        </p:nvSpPr>
        <p:spPr>
          <a:xfrm>
            <a:off x="30764368" y="6177239"/>
            <a:ext cx="598133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/>
              <a:t>PS trimming</a:t>
            </a:r>
            <a:r>
              <a:rPr lang="en-US" altLang="zh-CN" sz="3200" dirty="0"/>
              <a:t>: </a:t>
            </a:r>
            <a:r>
              <a:rPr lang="en-US" sz="3200" dirty="0"/>
              <a:t>remove non-positivity regions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912DF5A-71DA-ADDF-39C5-6179192F4D62}"/>
              </a:ext>
            </a:extLst>
          </p:cNvPr>
          <p:cNvSpPr txBox="1"/>
          <p:nvPr/>
        </p:nvSpPr>
        <p:spPr>
          <a:xfrm>
            <a:off x="30910260" y="3011886"/>
            <a:ext cx="60785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Predict PS with all HD features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65D16A86-8E04-B26B-B976-8BBB84736330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20680" t="4523" r="16979" b="18035"/>
          <a:stretch/>
        </p:blipFill>
        <p:spPr>
          <a:xfrm>
            <a:off x="29673575" y="6233901"/>
            <a:ext cx="980630" cy="1003598"/>
          </a:xfrm>
          <a:prstGeom prst="rect">
            <a:avLst/>
          </a:prstGeom>
        </p:spPr>
      </p:pic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E1ED731-BA4E-5AD0-DCE7-66926C1ED1DF}"/>
              </a:ext>
            </a:extLst>
          </p:cNvPr>
          <p:cNvCxnSpPr>
            <a:cxnSpLocks/>
          </p:cNvCxnSpPr>
          <p:nvPr/>
        </p:nvCxnSpPr>
        <p:spPr>
          <a:xfrm>
            <a:off x="28466795" y="10553373"/>
            <a:ext cx="0" cy="342343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CF857AAE-703B-C28D-8CD8-417EA9D46D33}"/>
              </a:ext>
            </a:extLst>
          </p:cNvPr>
          <p:cNvSpPr/>
          <p:nvPr/>
        </p:nvSpPr>
        <p:spPr>
          <a:xfrm>
            <a:off x="28510436" y="11639180"/>
            <a:ext cx="151992" cy="17857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2B2BA2FE-5D00-71E8-4E2F-831CA0C2C496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8883" t="4665" r="16527" b="17909"/>
          <a:stretch/>
        </p:blipFill>
        <p:spPr>
          <a:xfrm>
            <a:off x="28006434" y="6215230"/>
            <a:ext cx="1212549" cy="1055823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202C3AE8-F00F-14CE-9E1D-A9BA9A118BB6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8883" t="4665" r="16527" b="17909"/>
          <a:stretch/>
        </p:blipFill>
        <p:spPr>
          <a:xfrm>
            <a:off x="29519953" y="2836110"/>
            <a:ext cx="1212549" cy="1055823"/>
          </a:xfrm>
          <a:prstGeom prst="rect">
            <a:avLst/>
          </a:prstGeom>
        </p:spPr>
      </p:pic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EA6D5029-882D-08AA-89C6-A986D4CA200A}"/>
              </a:ext>
            </a:extLst>
          </p:cNvPr>
          <p:cNvCxnSpPr>
            <a:cxnSpLocks/>
          </p:cNvCxnSpPr>
          <p:nvPr/>
        </p:nvCxnSpPr>
        <p:spPr>
          <a:xfrm>
            <a:off x="29153394" y="3336613"/>
            <a:ext cx="366559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B9709FC0-3B82-9C11-A360-818990E36F2F}"/>
              </a:ext>
            </a:extLst>
          </p:cNvPr>
          <p:cNvSpPr/>
          <p:nvPr/>
        </p:nvSpPr>
        <p:spPr>
          <a:xfrm>
            <a:off x="28104550" y="2775529"/>
            <a:ext cx="173287" cy="107829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9AFE80F-14D2-686B-BB91-9F7E1D431C31}"/>
              </a:ext>
            </a:extLst>
          </p:cNvPr>
          <p:cNvSpPr/>
          <p:nvPr/>
        </p:nvSpPr>
        <p:spPr>
          <a:xfrm>
            <a:off x="28369521" y="3275316"/>
            <a:ext cx="173287" cy="58505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E4FB55C-B2ED-38B0-0977-728E4CA79038}"/>
              </a:ext>
            </a:extLst>
          </p:cNvPr>
          <p:cNvSpPr/>
          <p:nvPr/>
        </p:nvSpPr>
        <p:spPr>
          <a:xfrm>
            <a:off x="28646340" y="3647162"/>
            <a:ext cx="164980" cy="21678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D2DAC0C8-8502-925A-76C5-31C9D9560050}"/>
              </a:ext>
            </a:extLst>
          </p:cNvPr>
          <p:cNvSpPr/>
          <p:nvPr/>
        </p:nvSpPr>
        <p:spPr>
          <a:xfrm>
            <a:off x="28901084" y="3734586"/>
            <a:ext cx="150531" cy="13775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34C67267-C180-A99A-523B-B59C48A9E602}"/>
              </a:ext>
            </a:extLst>
          </p:cNvPr>
          <p:cNvCxnSpPr>
            <a:cxnSpLocks/>
          </p:cNvCxnSpPr>
          <p:nvPr/>
        </p:nvCxnSpPr>
        <p:spPr>
          <a:xfrm>
            <a:off x="29196862" y="6769242"/>
            <a:ext cx="366559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Down Arrow 138">
            <a:extLst>
              <a:ext uri="{FF2B5EF4-FFF2-40B4-BE49-F238E27FC236}">
                <a16:creationId xmlns:a16="http://schemas.microsoft.com/office/drawing/2014/main" id="{05EF1D5F-3975-1CE4-2E93-99C9372D2BC7}"/>
              </a:ext>
            </a:extLst>
          </p:cNvPr>
          <p:cNvSpPr/>
          <p:nvPr/>
        </p:nvSpPr>
        <p:spPr>
          <a:xfrm>
            <a:off x="32083481" y="17567650"/>
            <a:ext cx="339820" cy="474368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0474C2B1-F4A6-DFF7-C580-2BF3484CAADD}"/>
              </a:ext>
            </a:extLst>
          </p:cNvPr>
          <p:cNvSpPr/>
          <p:nvPr/>
        </p:nvSpPr>
        <p:spPr>
          <a:xfrm>
            <a:off x="27712855" y="14317690"/>
            <a:ext cx="9251721" cy="1162417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400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615982EB-5591-B9CF-134A-5C0926F2CB81}"/>
              </a:ext>
            </a:extLst>
          </p:cNvPr>
          <p:cNvSpPr/>
          <p:nvPr/>
        </p:nvSpPr>
        <p:spPr>
          <a:xfrm>
            <a:off x="27865843" y="14491643"/>
            <a:ext cx="8907788" cy="26737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B8D4B20B-3522-F58C-15F9-2AB323409CB7}"/>
              </a:ext>
            </a:extLst>
          </p:cNvPr>
          <p:cNvSpPr/>
          <p:nvPr/>
        </p:nvSpPr>
        <p:spPr>
          <a:xfrm>
            <a:off x="27870397" y="18312570"/>
            <a:ext cx="8924671" cy="257422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F3DEB90B-9FEB-4EC6-10E5-562E8142323F}"/>
              </a:ext>
            </a:extLst>
          </p:cNvPr>
          <p:cNvSpPr/>
          <p:nvPr/>
        </p:nvSpPr>
        <p:spPr>
          <a:xfrm>
            <a:off x="27873905" y="21937764"/>
            <a:ext cx="8894235" cy="3745027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9B37A651-CFD5-21DE-E56C-15AD6BB4E468}"/>
              </a:ext>
            </a:extLst>
          </p:cNvPr>
          <p:cNvSpPr txBox="1"/>
          <p:nvPr/>
        </p:nvSpPr>
        <p:spPr>
          <a:xfrm>
            <a:off x="27875619" y="14491644"/>
            <a:ext cx="8898012" cy="55399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000" dirty="0"/>
              <a:t>Input: data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69EDBDF4-AC26-B1CB-A655-16BC074FF0E5}"/>
                  </a:ext>
                </a:extLst>
              </p:cNvPr>
              <p:cNvSpPr txBox="1"/>
              <p:nvPr/>
            </p:nvSpPr>
            <p:spPr>
              <a:xfrm>
                <a:off x="27873905" y="16574143"/>
                <a:ext cx="8898011" cy="56650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3000" dirty="0"/>
                  <a:t>Output: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</m:acc>
                  </m:oMath>
                </a14:m>
                <a:endParaRPr lang="en-US" sz="3000" dirty="0"/>
              </a:p>
            </p:txBody>
          </p:sp>
        </mc:Choice>
        <mc:Fallback xmlns="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69EDBDF4-AC26-B1CB-A655-16BC074FF0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73905" y="16574143"/>
                <a:ext cx="8898011" cy="566502"/>
              </a:xfrm>
              <a:prstGeom prst="rect">
                <a:avLst/>
              </a:prstGeom>
              <a:blipFill>
                <a:blip r:embed="rId14"/>
                <a:stretch>
                  <a:fillRect l="-1567" t="-13333" b="-3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2ECFDEB5-26AF-290F-D295-A3BFFCF97717}"/>
                  </a:ext>
                </a:extLst>
              </p:cNvPr>
              <p:cNvSpPr txBox="1"/>
              <p:nvPr/>
            </p:nvSpPr>
            <p:spPr>
              <a:xfrm>
                <a:off x="27866626" y="18308421"/>
                <a:ext cx="8901513" cy="56650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3000" dirty="0"/>
                  <a:t>Input: data</a:t>
                </a:r>
                <a14:m>
                  <m:oMath xmlns:m="http://schemas.openxmlformats.org/officeDocument/2006/math">
                    <m:r>
                      <a:rPr lang="en-US" altLang="zh-CN" sz="3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acc>
                      <m:accPr>
                        <m:chr m:val="̂"/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</m:acc>
                  </m:oMath>
                </a14:m>
                <a:endParaRPr lang="en-US" sz="3000" dirty="0"/>
              </a:p>
            </p:txBody>
          </p:sp>
        </mc:Choice>
        <mc:Fallback xmlns=""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2ECFDEB5-26AF-290F-D295-A3BFFCF977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66626" y="18308421"/>
                <a:ext cx="8901513" cy="566502"/>
              </a:xfrm>
              <a:prstGeom prst="rect">
                <a:avLst/>
              </a:prstGeom>
              <a:blipFill>
                <a:blip r:embed="rId15"/>
                <a:stretch>
                  <a:fillRect l="-1567" t="-10870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1" name="TextBox 150">
            <a:extLst>
              <a:ext uri="{FF2B5EF4-FFF2-40B4-BE49-F238E27FC236}">
                <a16:creationId xmlns:a16="http://schemas.microsoft.com/office/drawing/2014/main" id="{F8525D33-2904-4EA1-9A35-0C542E8F35AB}"/>
              </a:ext>
            </a:extLst>
          </p:cNvPr>
          <p:cNvSpPr txBox="1"/>
          <p:nvPr/>
        </p:nvSpPr>
        <p:spPr>
          <a:xfrm>
            <a:off x="27855046" y="20332788"/>
            <a:ext cx="8924671" cy="55399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000" dirty="0"/>
              <a:t>Output: PS trimmed data</a:t>
            </a:r>
          </a:p>
        </p:txBody>
      </p:sp>
      <p:sp>
        <p:nvSpPr>
          <p:cNvPr id="153" name="Down Arrow 152">
            <a:extLst>
              <a:ext uri="{FF2B5EF4-FFF2-40B4-BE49-F238E27FC236}">
                <a16:creationId xmlns:a16="http://schemas.microsoft.com/office/drawing/2014/main" id="{7098AD86-16E4-94D8-A455-5951B9433A4A}"/>
              </a:ext>
            </a:extLst>
          </p:cNvPr>
          <p:cNvSpPr/>
          <p:nvPr/>
        </p:nvSpPr>
        <p:spPr>
          <a:xfrm>
            <a:off x="32083481" y="21187607"/>
            <a:ext cx="339820" cy="474368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E3C95842-48CA-D5FD-F629-A3009A4F599B}"/>
              </a:ext>
            </a:extLst>
          </p:cNvPr>
          <p:cNvSpPr txBox="1"/>
          <p:nvPr/>
        </p:nvSpPr>
        <p:spPr>
          <a:xfrm>
            <a:off x="27868738" y="21942536"/>
            <a:ext cx="8894234" cy="55399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000" dirty="0"/>
              <a:t>Input: PS trimmed data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FDC7B42B-98D2-1491-9242-C9788910B262}"/>
                  </a:ext>
                </a:extLst>
              </p:cNvPr>
              <p:cNvSpPr txBox="1"/>
              <p:nvPr/>
            </p:nvSpPr>
            <p:spPr>
              <a:xfrm>
                <a:off x="27875626" y="25098017"/>
                <a:ext cx="8905786" cy="58477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3000" dirty="0"/>
                  <a:t>Input: PS trimmed data with new </a:t>
                </a:r>
                <a14:m>
                  <m:oMath xmlns:m="http://schemas.openxmlformats.org/officeDocument/2006/math">
                    <m:r>
                      <a:rPr lang="en-US" sz="3200" b="1" i="1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endParaRPr lang="en-US" sz="3000" dirty="0"/>
              </a:p>
            </p:txBody>
          </p:sp>
        </mc:Choice>
        <mc:Fallback xmlns="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FDC7B42B-98D2-1491-9242-C9788910B2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75626" y="25098017"/>
                <a:ext cx="8905786" cy="584775"/>
              </a:xfrm>
              <a:prstGeom prst="rect">
                <a:avLst/>
              </a:prstGeom>
              <a:blipFill>
                <a:blip r:embed="rId16"/>
                <a:stretch>
                  <a:fillRect l="-1567" t="-8511" b="-29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3" name="TextBox 162">
            <a:extLst>
              <a:ext uri="{FF2B5EF4-FFF2-40B4-BE49-F238E27FC236}">
                <a16:creationId xmlns:a16="http://schemas.microsoft.com/office/drawing/2014/main" id="{48F6E934-F32E-6595-268B-A8AEB49F76A7}"/>
              </a:ext>
            </a:extLst>
          </p:cNvPr>
          <p:cNvSpPr txBox="1"/>
          <p:nvPr/>
        </p:nvSpPr>
        <p:spPr>
          <a:xfrm>
            <a:off x="29129151" y="23241142"/>
            <a:ext cx="740280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HD feature preparation</a:t>
            </a:r>
            <a:r>
              <a:rPr lang="en-US" altLang="zh-CN" sz="3200" dirty="0"/>
              <a:t>: assign</a:t>
            </a:r>
            <a:r>
              <a:rPr lang="zh-CN" altLang="en-US" sz="3200" dirty="0"/>
              <a:t> </a:t>
            </a:r>
            <a:r>
              <a:rPr lang="en-US" altLang="zh-CN" sz="3200" dirty="0"/>
              <a:t>the</a:t>
            </a:r>
            <a:r>
              <a:rPr lang="zh-CN" altLang="en-US" sz="3200" dirty="0"/>
              <a:t> </a:t>
            </a:r>
            <a:r>
              <a:rPr lang="en-US" altLang="zh-CN" sz="3200" dirty="0"/>
              <a:t>value</a:t>
            </a:r>
            <a:r>
              <a:rPr lang="zh-CN" altLang="en-US" sz="3200" dirty="0"/>
              <a:t> </a:t>
            </a:r>
            <a:r>
              <a:rPr lang="en-US" altLang="zh-CN" sz="3200" dirty="0"/>
              <a:t>to</a:t>
            </a:r>
            <a:r>
              <a:rPr lang="zh-CN" altLang="en-US" sz="3200" dirty="0"/>
              <a:t> </a:t>
            </a:r>
            <a:r>
              <a:rPr lang="en-US" altLang="zh-CN" sz="3200" dirty="0"/>
              <a:t>0</a:t>
            </a:r>
            <a:r>
              <a:rPr lang="zh-CN" altLang="en-US" sz="3200" dirty="0"/>
              <a:t> </a:t>
            </a:r>
            <a:r>
              <a:rPr lang="en-US" altLang="zh-CN" sz="3200" dirty="0"/>
              <a:t>for</a:t>
            </a:r>
            <a:r>
              <a:rPr lang="zh-CN" altLang="en-US" sz="3200" dirty="0"/>
              <a:t> </a:t>
            </a:r>
            <a:r>
              <a:rPr lang="en-US" altLang="zh-CN" sz="3200" dirty="0"/>
              <a:t>those</a:t>
            </a:r>
            <a:r>
              <a:rPr lang="zh-CN" altLang="en-US" sz="3200" dirty="0"/>
              <a:t> </a:t>
            </a:r>
            <a:r>
              <a:rPr lang="en-US" altLang="zh-CN" sz="3200" dirty="0"/>
              <a:t>with a low count (&lt; </a:t>
            </a:r>
            <a:r>
              <a:rPr lang="en-US" altLang="zh-CN" sz="3200" i="1" dirty="0"/>
              <a:t>m</a:t>
            </a:r>
            <a:r>
              <a:rPr lang="en-US" altLang="zh-CN" sz="3200" dirty="0"/>
              <a:t>). </a:t>
            </a:r>
            <a:endParaRPr lang="en-US" sz="3200" dirty="0"/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49B5A324-C16D-B36D-7E2D-B3FD56C0DE99}"/>
              </a:ext>
            </a:extLst>
          </p:cNvPr>
          <p:cNvSpPr txBox="1"/>
          <p:nvPr/>
        </p:nvSpPr>
        <p:spPr>
          <a:xfrm>
            <a:off x="30740125" y="18996262"/>
            <a:ext cx="598133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/>
              <a:t>PS trimming</a:t>
            </a:r>
            <a:r>
              <a:rPr lang="en-US" altLang="zh-CN" sz="3200" dirty="0"/>
              <a:t>: </a:t>
            </a:r>
            <a:r>
              <a:rPr lang="en-US" sz="3200" dirty="0"/>
              <a:t>remove non-positivity regions 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487CAED6-D679-1E0C-73E4-2256DC007882}"/>
              </a:ext>
            </a:extLst>
          </p:cNvPr>
          <p:cNvSpPr txBox="1"/>
          <p:nvPr/>
        </p:nvSpPr>
        <p:spPr>
          <a:xfrm>
            <a:off x="30886017" y="15439022"/>
            <a:ext cx="60785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Predict PS with all HD features</a:t>
            </a:r>
          </a:p>
        </p:txBody>
      </p:sp>
      <p:pic>
        <p:nvPicPr>
          <p:cNvPr id="181" name="Picture 180">
            <a:extLst>
              <a:ext uri="{FF2B5EF4-FFF2-40B4-BE49-F238E27FC236}">
                <a16:creationId xmlns:a16="http://schemas.microsoft.com/office/drawing/2014/main" id="{12E112B7-48E1-73D8-3722-4C6ACB6BDFA2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20680" t="4523" r="16979" b="18035"/>
          <a:stretch/>
        </p:blipFill>
        <p:spPr>
          <a:xfrm>
            <a:off x="29649331" y="19052925"/>
            <a:ext cx="980630" cy="1003598"/>
          </a:xfrm>
          <a:prstGeom prst="rect">
            <a:avLst/>
          </a:prstGeom>
        </p:spPr>
      </p:pic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03BB1958-A402-8414-73ED-56FBF8B5A6DC}"/>
              </a:ext>
            </a:extLst>
          </p:cNvPr>
          <p:cNvCxnSpPr>
            <a:cxnSpLocks/>
          </p:cNvCxnSpPr>
          <p:nvPr/>
        </p:nvCxnSpPr>
        <p:spPr>
          <a:xfrm>
            <a:off x="28385731" y="23647257"/>
            <a:ext cx="0" cy="342343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6" name="Picture 185">
            <a:extLst>
              <a:ext uri="{FF2B5EF4-FFF2-40B4-BE49-F238E27FC236}">
                <a16:creationId xmlns:a16="http://schemas.microsoft.com/office/drawing/2014/main" id="{7001DB19-F376-2545-A2A2-094D9223E21A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8883" t="4665" r="16527" b="17909"/>
          <a:stretch/>
        </p:blipFill>
        <p:spPr>
          <a:xfrm>
            <a:off x="27982191" y="19034253"/>
            <a:ext cx="1212549" cy="1055823"/>
          </a:xfrm>
          <a:prstGeom prst="rect">
            <a:avLst/>
          </a:prstGeom>
        </p:spPr>
      </p:pic>
      <p:pic>
        <p:nvPicPr>
          <p:cNvPr id="1029" name="Picture 1028">
            <a:extLst>
              <a:ext uri="{FF2B5EF4-FFF2-40B4-BE49-F238E27FC236}">
                <a16:creationId xmlns:a16="http://schemas.microsoft.com/office/drawing/2014/main" id="{195C7913-C08B-BB5B-ADFC-8712A7CCF91A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8883" t="4665" r="16527" b="17909"/>
          <a:stretch/>
        </p:blipFill>
        <p:spPr>
          <a:xfrm>
            <a:off x="29495710" y="15263245"/>
            <a:ext cx="1212549" cy="1055823"/>
          </a:xfrm>
          <a:prstGeom prst="rect">
            <a:avLst/>
          </a:prstGeom>
        </p:spPr>
      </p:pic>
      <p:cxnSp>
        <p:nvCxnSpPr>
          <p:cNvPr id="1033" name="Straight Arrow Connector 1032">
            <a:extLst>
              <a:ext uri="{FF2B5EF4-FFF2-40B4-BE49-F238E27FC236}">
                <a16:creationId xmlns:a16="http://schemas.microsoft.com/office/drawing/2014/main" id="{CEF45BB4-D5FC-C404-EB96-73AF8EF12F7A}"/>
              </a:ext>
            </a:extLst>
          </p:cNvPr>
          <p:cNvCxnSpPr>
            <a:cxnSpLocks/>
          </p:cNvCxnSpPr>
          <p:nvPr/>
        </p:nvCxnSpPr>
        <p:spPr>
          <a:xfrm>
            <a:off x="29129151" y="15763749"/>
            <a:ext cx="366559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6" name="Straight Arrow Connector 1055">
            <a:extLst>
              <a:ext uri="{FF2B5EF4-FFF2-40B4-BE49-F238E27FC236}">
                <a16:creationId xmlns:a16="http://schemas.microsoft.com/office/drawing/2014/main" id="{68A887D3-116F-DC1C-98A3-03C91644E6F8}"/>
              </a:ext>
            </a:extLst>
          </p:cNvPr>
          <p:cNvCxnSpPr>
            <a:cxnSpLocks/>
          </p:cNvCxnSpPr>
          <p:nvPr/>
        </p:nvCxnSpPr>
        <p:spPr>
          <a:xfrm>
            <a:off x="29172620" y="19588265"/>
            <a:ext cx="366559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5" name="Rectangle 1064">
            <a:extLst>
              <a:ext uri="{FF2B5EF4-FFF2-40B4-BE49-F238E27FC236}">
                <a16:creationId xmlns:a16="http://schemas.microsoft.com/office/drawing/2014/main" id="{AB7DBCC5-E02A-14A6-0CF8-FCB1720A59BB}"/>
              </a:ext>
            </a:extLst>
          </p:cNvPr>
          <p:cNvSpPr/>
          <p:nvPr/>
        </p:nvSpPr>
        <p:spPr>
          <a:xfrm>
            <a:off x="28210562" y="15129379"/>
            <a:ext cx="173486" cy="1132680"/>
          </a:xfrm>
          <a:prstGeom prst="rect">
            <a:avLst/>
          </a:prstGeom>
          <a:solidFill>
            <a:srgbClr val="C113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6" name="Rectangle 1065">
            <a:extLst>
              <a:ext uri="{FF2B5EF4-FFF2-40B4-BE49-F238E27FC236}">
                <a16:creationId xmlns:a16="http://schemas.microsoft.com/office/drawing/2014/main" id="{D881802E-B751-1256-5C58-A46BB8E4C0A6}"/>
              </a:ext>
            </a:extLst>
          </p:cNvPr>
          <p:cNvSpPr/>
          <p:nvPr/>
        </p:nvSpPr>
        <p:spPr>
          <a:xfrm>
            <a:off x="28475553" y="15977449"/>
            <a:ext cx="173287" cy="285019"/>
          </a:xfrm>
          <a:prstGeom prst="rect">
            <a:avLst/>
          </a:prstGeom>
          <a:solidFill>
            <a:srgbClr val="C113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7" name="TextBox 1066">
            <a:extLst>
              <a:ext uri="{FF2B5EF4-FFF2-40B4-BE49-F238E27FC236}">
                <a16:creationId xmlns:a16="http://schemas.microsoft.com/office/drawing/2014/main" id="{85330134-B8BE-5EF6-9B8B-3D2CD926FAEB}"/>
              </a:ext>
            </a:extLst>
          </p:cNvPr>
          <p:cNvSpPr txBox="1"/>
          <p:nvPr/>
        </p:nvSpPr>
        <p:spPr>
          <a:xfrm>
            <a:off x="28156391" y="16257347"/>
            <a:ext cx="577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0   1</a:t>
            </a:r>
          </a:p>
        </p:txBody>
      </p:sp>
      <p:sp>
        <p:nvSpPr>
          <p:cNvPr id="1068" name="Rectangle 1067">
            <a:extLst>
              <a:ext uri="{FF2B5EF4-FFF2-40B4-BE49-F238E27FC236}">
                <a16:creationId xmlns:a16="http://schemas.microsoft.com/office/drawing/2014/main" id="{E58765DF-6640-2857-BFEA-082E15365617}"/>
              </a:ext>
            </a:extLst>
          </p:cNvPr>
          <p:cNvSpPr/>
          <p:nvPr/>
        </p:nvSpPr>
        <p:spPr>
          <a:xfrm>
            <a:off x="28184852" y="22566360"/>
            <a:ext cx="173486" cy="775822"/>
          </a:xfrm>
          <a:prstGeom prst="rect">
            <a:avLst/>
          </a:prstGeom>
          <a:solidFill>
            <a:srgbClr val="C113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9" name="Rectangle 1068">
            <a:extLst>
              <a:ext uri="{FF2B5EF4-FFF2-40B4-BE49-F238E27FC236}">
                <a16:creationId xmlns:a16="http://schemas.microsoft.com/office/drawing/2014/main" id="{8D097F40-5915-6E81-46BE-3C15043CD7A3}"/>
              </a:ext>
            </a:extLst>
          </p:cNvPr>
          <p:cNvSpPr/>
          <p:nvPr/>
        </p:nvSpPr>
        <p:spPr>
          <a:xfrm>
            <a:off x="28449859" y="23298838"/>
            <a:ext cx="173287" cy="45719"/>
          </a:xfrm>
          <a:prstGeom prst="rect">
            <a:avLst/>
          </a:prstGeom>
          <a:solidFill>
            <a:srgbClr val="C113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3" name="TextBox 1072">
            <a:extLst>
              <a:ext uri="{FF2B5EF4-FFF2-40B4-BE49-F238E27FC236}">
                <a16:creationId xmlns:a16="http://schemas.microsoft.com/office/drawing/2014/main" id="{E2CA36C4-F920-0135-439E-B11845F33288}"/>
              </a:ext>
            </a:extLst>
          </p:cNvPr>
          <p:cNvSpPr txBox="1"/>
          <p:nvPr/>
        </p:nvSpPr>
        <p:spPr>
          <a:xfrm>
            <a:off x="28114738" y="23266809"/>
            <a:ext cx="577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0   1</a:t>
            </a:r>
          </a:p>
        </p:txBody>
      </p:sp>
      <p:sp>
        <p:nvSpPr>
          <p:cNvPr id="1074" name="Rectangle 1073">
            <a:extLst>
              <a:ext uri="{FF2B5EF4-FFF2-40B4-BE49-F238E27FC236}">
                <a16:creationId xmlns:a16="http://schemas.microsoft.com/office/drawing/2014/main" id="{7FA10151-FF50-F3E6-F676-58494A529692}"/>
              </a:ext>
            </a:extLst>
          </p:cNvPr>
          <p:cNvSpPr/>
          <p:nvPr/>
        </p:nvSpPr>
        <p:spPr>
          <a:xfrm>
            <a:off x="28184852" y="24081832"/>
            <a:ext cx="173486" cy="837856"/>
          </a:xfrm>
          <a:prstGeom prst="rect">
            <a:avLst/>
          </a:prstGeom>
          <a:solidFill>
            <a:srgbClr val="C113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1" name="TextBox 1080">
            <a:extLst>
              <a:ext uri="{FF2B5EF4-FFF2-40B4-BE49-F238E27FC236}">
                <a16:creationId xmlns:a16="http://schemas.microsoft.com/office/drawing/2014/main" id="{97317EAC-A37C-9FD7-60DA-BE6D73626D3D}"/>
              </a:ext>
            </a:extLst>
          </p:cNvPr>
          <p:cNvSpPr txBox="1"/>
          <p:nvPr/>
        </p:nvSpPr>
        <p:spPr>
          <a:xfrm>
            <a:off x="28143122" y="24830500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0   </a:t>
            </a:r>
          </a:p>
        </p:txBody>
      </p:sp>
      <p:graphicFrame>
        <p:nvGraphicFramePr>
          <p:cNvPr id="1475" name="Table 1474">
            <a:extLst>
              <a:ext uri="{FF2B5EF4-FFF2-40B4-BE49-F238E27FC236}">
                <a16:creationId xmlns:a16="http://schemas.microsoft.com/office/drawing/2014/main" id="{C4867C3E-DC0C-CE5E-3B8E-6BB1B9DBBC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8074406"/>
              </p:ext>
            </p:extLst>
          </p:nvPr>
        </p:nvGraphicFramePr>
        <p:xfrm>
          <a:off x="49326839" y="9256978"/>
          <a:ext cx="1686454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64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05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6000" b="0" i="1" dirty="0" err="1">
                          <a:solidFill>
                            <a:schemeClr val="bg1"/>
                          </a:solidFill>
                        </a:rPr>
                        <a:t>G</a:t>
                      </a:r>
                      <a:r>
                        <a:rPr lang="en-US" altLang="zh-CN" sz="6000" b="0" i="1" baseline="-25000" dirty="0" err="1">
                          <a:solidFill>
                            <a:schemeClr val="bg1"/>
                          </a:solidFill>
                        </a:rPr>
                        <a:t>iCF</a:t>
                      </a:r>
                      <a:endParaRPr lang="en-US" sz="6000" b="0" i="1" baseline="-25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9C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76" name="Table 1475">
            <a:extLst>
              <a:ext uri="{FF2B5EF4-FFF2-40B4-BE49-F238E27FC236}">
                <a16:creationId xmlns:a16="http://schemas.microsoft.com/office/drawing/2014/main" id="{903975E5-BE83-404B-E44D-13CC50A8F2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1122369"/>
              </p:ext>
            </p:extLst>
          </p:nvPr>
        </p:nvGraphicFramePr>
        <p:xfrm>
          <a:off x="49276035" y="15498918"/>
          <a:ext cx="1686454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64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05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6000" b="0" i="1" dirty="0" err="1">
                          <a:solidFill>
                            <a:schemeClr val="bg1"/>
                          </a:solidFill>
                        </a:rPr>
                        <a:t>G</a:t>
                      </a:r>
                      <a:r>
                        <a:rPr lang="en-US" altLang="zh-CN" sz="6000" b="0" i="1" baseline="-25000" dirty="0" err="1">
                          <a:solidFill>
                            <a:schemeClr val="bg1"/>
                          </a:solidFill>
                        </a:rPr>
                        <a:t>iCF</a:t>
                      </a:r>
                      <a:endParaRPr lang="en-US" sz="6000" b="0" i="1" baseline="-25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113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477" name="TextBox 1476">
                <a:extLst>
                  <a:ext uri="{FF2B5EF4-FFF2-40B4-BE49-F238E27FC236}">
                    <a16:creationId xmlns:a16="http://schemas.microsoft.com/office/drawing/2014/main" id="{05857830-331D-7BB7-247B-1230D06A2B43}"/>
                  </a:ext>
                </a:extLst>
              </p:cNvPr>
              <p:cNvSpPr txBox="1"/>
              <p:nvPr/>
            </p:nvSpPr>
            <p:spPr>
              <a:xfrm>
                <a:off x="27446216" y="121433"/>
                <a:ext cx="9753388" cy="16135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sz="5000" b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m:t>PS</m:t>
                      </m:r>
                      <m:r>
                        <m:rPr>
                          <m:nor/>
                        </m:rPr>
                        <a:rPr lang="en-US" altLang="zh-CN" sz="5000" b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5000" b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m:t>trimming</m:t>
                      </m:r>
                      <m:r>
                        <m:rPr>
                          <m:nor/>
                        </m:rPr>
                        <a:rPr lang="en-US" altLang="zh-CN" sz="5000" b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5000" b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m:t>and</m:t>
                      </m:r>
                      <m:r>
                        <m:rPr>
                          <m:nor/>
                        </m:rPr>
                        <a:rPr lang="en-US" altLang="zh-CN" sz="5000" b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5000" b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m:t>HD</m:t>
                      </m:r>
                      <m:r>
                        <m:rPr>
                          <m:nor/>
                        </m:rPr>
                        <a:rPr lang="en-US" altLang="zh-CN" sz="5000" b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5000" b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m:t>feature</m:t>
                      </m:r>
                      <m:r>
                        <m:rPr>
                          <m:nor/>
                        </m:rPr>
                        <a:rPr lang="en-US" altLang="zh-CN" sz="5000" b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5000" b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m:t>preparation</m:t>
                      </m:r>
                    </m:oMath>
                  </m:oMathPara>
                </a14:m>
                <a:endParaRPr lang="en-US" sz="5000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477" name="TextBox 1476">
                <a:extLst>
                  <a:ext uri="{FF2B5EF4-FFF2-40B4-BE49-F238E27FC236}">
                    <a16:creationId xmlns:a16="http://schemas.microsoft.com/office/drawing/2014/main" id="{05857830-331D-7BB7-247B-1230D06A2B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46216" y="121433"/>
                <a:ext cx="9753388" cy="1613519"/>
              </a:xfrm>
              <a:prstGeom prst="rect">
                <a:avLst/>
              </a:prstGeom>
              <a:blipFill>
                <a:blip r:embed="rId17"/>
                <a:stretch>
                  <a:fillRect t="-7031" b="-101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80" name="TextBox 1479">
                <a:extLst>
                  <a:ext uri="{FF2B5EF4-FFF2-40B4-BE49-F238E27FC236}">
                    <a16:creationId xmlns:a16="http://schemas.microsoft.com/office/drawing/2014/main" id="{4578BA01-DFDF-DC9D-0DC1-957DD93E4664}"/>
                  </a:ext>
                </a:extLst>
              </p:cNvPr>
              <p:cNvSpPr txBox="1"/>
              <p:nvPr/>
            </p:nvSpPr>
            <p:spPr>
              <a:xfrm>
                <a:off x="39918228" y="4732696"/>
                <a:ext cx="7471143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sz="5000" b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m:t>Implementation</m:t>
                      </m:r>
                      <m:r>
                        <m:rPr>
                          <m:nor/>
                        </m:rPr>
                        <a:rPr lang="en-US" altLang="zh-CN" sz="5000" b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5000" b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m:t>of</m:t>
                      </m:r>
                      <m:r>
                        <m:rPr>
                          <m:nor/>
                        </m:rPr>
                        <a:rPr lang="en-US" altLang="zh-CN" sz="5000" b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5000" b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m:t>iCF</m:t>
                      </m:r>
                    </m:oMath>
                  </m:oMathPara>
                </a14:m>
                <a:endParaRPr lang="en-US" sz="5000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480" name="TextBox 1479">
                <a:extLst>
                  <a:ext uri="{FF2B5EF4-FFF2-40B4-BE49-F238E27FC236}">
                    <a16:creationId xmlns:a16="http://schemas.microsoft.com/office/drawing/2014/main" id="{4578BA01-DFDF-DC9D-0DC1-957DD93E46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18228" y="4732696"/>
                <a:ext cx="7471143" cy="861774"/>
              </a:xfrm>
              <a:prstGeom prst="rect">
                <a:avLst/>
              </a:prstGeom>
              <a:blipFill>
                <a:blip r:embed="rId18"/>
                <a:stretch>
                  <a:fillRect l="-2547" t="-14493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81" name="TextBox 1480">
                <a:extLst>
                  <a:ext uri="{FF2B5EF4-FFF2-40B4-BE49-F238E27FC236}">
                    <a16:creationId xmlns:a16="http://schemas.microsoft.com/office/drawing/2014/main" id="{39E374E8-934B-AA79-1976-B94CFE2EE509}"/>
                  </a:ext>
                </a:extLst>
              </p:cNvPr>
              <p:cNvSpPr txBox="1"/>
              <p:nvPr/>
            </p:nvSpPr>
            <p:spPr>
              <a:xfrm>
                <a:off x="347857" y="7487543"/>
                <a:ext cx="12903070" cy="8619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sz="5001" b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m:t>HD</m:t>
                      </m:r>
                      <m:r>
                        <m:rPr>
                          <m:nor/>
                        </m:rPr>
                        <a:rPr lang="en-US" altLang="zh-CN" sz="5001" b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5001" b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m:t>feature</m:t>
                      </m:r>
                      <m:r>
                        <m:rPr>
                          <m:nor/>
                        </m:rPr>
                        <a:rPr lang="zh-CN" altLang="en-US" sz="5001" b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5001" b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m:t>identification</m:t>
                      </m:r>
                    </m:oMath>
                  </m:oMathPara>
                </a14:m>
                <a:endParaRPr lang="en-US" sz="5001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481" name="TextBox 1480">
                <a:extLst>
                  <a:ext uri="{FF2B5EF4-FFF2-40B4-BE49-F238E27FC236}">
                    <a16:creationId xmlns:a16="http://schemas.microsoft.com/office/drawing/2014/main" id="{39E374E8-934B-AA79-1976-B94CFE2EE5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857" y="7487543"/>
                <a:ext cx="12903070" cy="861903"/>
              </a:xfrm>
              <a:prstGeom prst="rect">
                <a:avLst/>
              </a:prstGeom>
              <a:blipFill>
                <a:blip r:embed="rId19"/>
                <a:stretch>
                  <a:fillRect t="-14493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0" name="Down Arrow 129">
            <a:extLst>
              <a:ext uri="{FF2B5EF4-FFF2-40B4-BE49-F238E27FC236}">
                <a16:creationId xmlns:a16="http://schemas.microsoft.com/office/drawing/2014/main" id="{9853B397-9624-982C-E43C-930708698C4C}"/>
              </a:ext>
            </a:extLst>
          </p:cNvPr>
          <p:cNvSpPr/>
          <p:nvPr/>
        </p:nvSpPr>
        <p:spPr>
          <a:xfrm rot="16200000">
            <a:off x="26554762" y="8930100"/>
            <a:ext cx="538653" cy="1685203"/>
          </a:xfrm>
          <a:prstGeom prst="downArrow">
            <a:avLst/>
          </a:prstGeom>
          <a:solidFill>
            <a:srgbClr val="5B9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33"/>
          </a:p>
        </p:txBody>
      </p:sp>
      <p:sp>
        <p:nvSpPr>
          <p:cNvPr id="132" name="Down Arrow 131">
            <a:extLst>
              <a:ext uri="{FF2B5EF4-FFF2-40B4-BE49-F238E27FC236}">
                <a16:creationId xmlns:a16="http://schemas.microsoft.com/office/drawing/2014/main" id="{45A19D24-EF56-FE08-A8FD-7C542B06CA28}"/>
              </a:ext>
            </a:extLst>
          </p:cNvPr>
          <p:cNvSpPr/>
          <p:nvPr/>
        </p:nvSpPr>
        <p:spPr>
          <a:xfrm rot="16200000">
            <a:off x="26561858" y="15075927"/>
            <a:ext cx="538653" cy="1685203"/>
          </a:xfrm>
          <a:prstGeom prst="downArrow">
            <a:avLst/>
          </a:prstGeom>
          <a:solidFill>
            <a:srgbClr val="C113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33"/>
          </a:p>
        </p:txBody>
      </p:sp>
      <p:sp>
        <p:nvSpPr>
          <p:cNvPr id="133" name="Down Arrow 132">
            <a:extLst>
              <a:ext uri="{FF2B5EF4-FFF2-40B4-BE49-F238E27FC236}">
                <a16:creationId xmlns:a16="http://schemas.microsoft.com/office/drawing/2014/main" id="{205B3656-118B-309C-64E4-03143612E4C0}"/>
              </a:ext>
            </a:extLst>
          </p:cNvPr>
          <p:cNvSpPr/>
          <p:nvPr/>
        </p:nvSpPr>
        <p:spPr>
          <a:xfrm rot="16200000">
            <a:off x="37646568" y="8982350"/>
            <a:ext cx="538653" cy="1685203"/>
          </a:xfrm>
          <a:prstGeom prst="downArrow">
            <a:avLst/>
          </a:prstGeom>
          <a:solidFill>
            <a:srgbClr val="5B9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33"/>
          </a:p>
        </p:txBody>
      </p:sp>
      <p:sp>
        <p:nvSpPr>
          <p:cNvPr id="141" name="Down Arrow 140">
            <a:extLst>
              <a:ext uri="{FF2B5EF4-FFF2-40B4-BE49-F238E27FC236}">
                <a16:creationId xmlns:a16="http://schemas.microsoft.com/office/drawing/2014/main" id="{233F9CE5-4724-BFA4-64B9-EAA1265E81FE}"/>
              </a:ext>
            </a:extLst>
          </p:cNvPr>
          <p:cNvSpPr/>
          <p:nvPr/>
        </p:nvSpPr>
        <p:spPr>
          <a:xfrm rot="16200000">
            <a:off x="37601842" y="15104046"/>
            <a:ext cx="538653" cy="1685203"/>
          </a:xfrm>
          <a:prstGeom prst="downArrow">
            <a:avLst/>
          </a:prstGeom>
          <a:solidFill>
            <a:srgbClr val="C113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33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71FB206D-9B23-1385-F241-0F0D6B3F6E70}"/>
              </a:ext>
            </a:extLst>
          </p:cNvPr>
          <p:cNvSpPr/>
          <p:nvPr/>
        </p:nvSpPr>
        <p:spPr>
          <a:xfrm>
            <a:off x="38988619" y="6039934"/>
            <a:ext cx="8406766" cy="14277179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400"/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58BC40A4-3F01-6D05-C711-F76D74D2B0A7}"/>
              </a:ext>
            </a:extLst>
          </p:cNvPr>
          <p:cNvSpPr/>
          <p:nvPr/>
        </p:nvSpPr>
        <p:spPr>
          <a:xfrm>
            <a:off x="38988619" y="6039935"/>
            <a:ext cx="8406766" cy="1324179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400" b="1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66F96176-6AC6-D608-6DBB-171B84302F00}"/>
                  </a:ext>
                </a:extLst>
              </p:cNvPr>
              <p:cNvSpPr txBox="1"/>
              <p:nvPr/>
            </p:nvSpPr>
            <p:spPr>
              <a:xfrm>
                <a:off x="39285004" y="6073723"/>
                <a:ext cx="703893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600" dirty="0"/>
                  <a:t>Input: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3600" dirty="0"/>
                      <m:t>PS</m:t>
                    </m:r>
                    <m:r>
                      <m:rPr>
                        <m:nor/>
                      </m:rPr>
                      <a:rPr lang="en-US" altLang="zh-CN" sz="3600" dirty="0"/>
                      <m:t> </m:t>
                    </m:r>
                    <m:r>
                      <m:rPr>
                        <m:nor/>
                      </m:rPr>
                      <a:rPr lang="en-US" altLang="zh-CN" sz="3600" dirty="0"/>
                      <m:t>trimmed</m:t>
                    </m:r>
                    <m:r>
                      <m:rPr>
                        <m:nor/>
                      </m:rPr>
                      <a:rPr lang="en-US" altLang="zh-CN" sz="3600" dirty="0"/>
                      <m:t> </m:t>
                    </m:r>
                    <m:r>
                      <m:rPr>
                        <m:nor/>
                      </m:rPr>
                      <a:rPr lang="en-US" altLang="zh-CN" sz="3600" dirty="0"/>
                      <m:t>data</m:t>
                    </m:r>
                    <m:r>
                      <m:rPr>
                        <m:nor/>
                      </m:rPr>
                      <a:rPr lang="en-US" altLang="zh-CN" sz="3600" dirty="0"/>
                      <m:t> </m:t>
                    </m:r>
                    <m:r>
                      <m:rPr>
                        <m:nor/>
                      </m:rPr>
                      <a:rPr lang="en-US" altLang="zh-CN" sz="3600" dirty="0"/>
                      <m:t>with</m:t>
                    </m:r>
                    <m:r>
                      <m:rPr>
                        <m:nor/>
                      </m:rPr>
                      <a:rPr lang="en-US" altLang="zh-CN" sz="3600" dirty="0"/>
                      <m:t> </m:t>
                    </m:r>
                    <m:r>
                      <m:rPr>
                        <m:nor/>
                      </m:rPr>
                      <a:rPr lang="en-US" altLang="zh-CN" sz="3600" dirty="0"/>
                      <m:t>new</m:t>
                    </m:r>
                    <m:r>
                      <m:rPr>
                        <m:nor/>
                      </m:rPr>
                      <a:rPr lang="en-US" altLang="zh-CN" sz="3600" dirty="0"/>
                      <m:t> </m:t>
                    </m:r>
                    <m:r>
                      <a:rPr lang="en-US" sz="3600" b="1" i="1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sz="3600" dirty="0"/>
                  <a:t> (each level has </a:t>
                </a:r>
                <a:r>
                  <a:rPr lang="en-US" altLang="zh-CN" sz="3600" dirty="0"/>
                  <a:t>≥ </a:t>
                </a:r>
                <a:r>
                  <a:rPr lang="en-US" altLang="zh-CN" sz="3600" i="1" dirty="0"/>
                  <a:t>m</a:t>
                </a:r>
                <a:r>
                  <a:rPr lang="en-US" altLang="zh-CN" sz="3600" dirty="0"/>
                  <a:t> observations </a:t>
                </a:r>
                <a:r>
                  <a:rPr lang="en-US" sz="3600" dirty="0"/>
                  <a:t>)</a:t>
                </a:r>
              </a:p>
            </p:txBody>
          </p:sp>
        </mc:Choice>
        <mc:Fallback xmlns=""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66F96176-6AC6-D608-6DBB-171B84302F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85004" y="6073723"/>
                <a:ext cx="7038936" cy="1200329"/>
              </a:xfrm>
              <a:prstGeom prst="rect">
                <a:avLst/>
              </a:prstGeom>
              <a:blipFill>
                <a:blip r:embed="rId20"/>
                <a:stretch>
                  <a:fillRect l="-2703" t="-8421" b="-1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8" name="Rectangle 167">
            <a:extLst>
              <a:ext uri="{FF2B5EF4-FFF2-40B4-BE49-F238E27FC236}">
                <a16:creationId xmlns:a16="http://schemas.microsoft.com/office/drawing/2014/main" id="{5DBCBCD9-7FAA-FB49-AEE4-EE314941539F}"/>
              </a:ext>
            </a:extLst>
          </p:cNvPr>
          <p:cNvSpPr/>
          <p:nvPr/>
        </p:nvSpPr>
        <p:spPr>
          <a:xfrm>
            <a:off x="42145690" y="7463940"/>
            <a:ext cx="2156655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8800" b="1" dirty="0" err="1"/>
              <a:t>iCF</a:t>
            </a:r>
            <a:endParaRPr lang="en-US" sz="8800" b="1" i="1" dirty="0"/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50E63D39-4E0D-65D1-D963-E577173C89DB}"/>
              </a:ext>
            </a:extLst>
          </p:cNvPr>
          <p:cNvSpPr/>
          <p:nvPr/>
        </p:nvSpPr>
        <p:spPr>
          <a:xfrm>
            <a:off x="39001889" y="19222013"/>
            <a:ext cx="8393496" cy="110141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400" b="1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3D68646A-A2F1-7766-7C42-71F7CF92295E}"/>
                  </a:ext>
                </a:extLst>
              </p:cNvPr>
              <p:cNvSpPr txBox="1"/>
              <p:nvPr/>
            </p:nvSpPr>
            <p:spPr>
              <a:xfrm>
                <a:off x="39263650" y="19428805"/>
                <a:ext cx="605845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600" dirty="0"/>
                  <a:t>Output:</a:t>
                </a:r>
                <a:r>
                  <a:rPr lang="zh-CN" altLang="en-US" sz="3600" dirty="0"/>
                  <a:t> </a:t>
                </a:r>
                <a:r>
                  <a:rPr lang="en-US" altLang="zh-CN" sz="3600" dirty="0"/>
                  <a:t>subgroup</a:t>
                </a:r>
                <a:r>
                  <a:rPr lang="zh-CN" altLang="en-US" sz="3600" dirty="0"/>
                  <a:t> </a:t>
                </a:r>
                <a:r>
                  <a:rPr lang="en-US" altLang="zh-CN" sz="3600" dirty="0"/>
                  <a:t>decision</a:t>
                </a:r>
                <a14:m>
                  <m:oMath xmlns:m="http://schemas.openxmlformats.org/officeDocument/2006/math">
                    <m:r>
                      <a:rPr lang="zh-CN" altLang="en-US" sz="360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sz="3600" b="1" i="1">
                        <a:latin typeface="Calibri" panose="020F0502020204030204" pitchFamily="34" charset="0"/>
                        <a:cs typeface="Calibri" panose="020F0502020204030204" pitchFamily="34" charset="0"/>
                      </a:rPr>
                      <m:t>G</m:t>
                    </m:r>
                    <m:r>
                      <m:rPr>
                        <m:nor/>
                      </m:rPr>
                      <a:rPr lang="en-US" sz="3600" b="1" i="1" baseline="-25000">
                        <a:latin typeface="Calibri" panose="020F0502020204030204" pitchFamily="34" charset="0"/>
                        <a:cs typeface="Calibri" panose="020F0502020204030204" pitchFamily="34" charset="0"/>
                      </a:rPr>
                      <m:t>iCF</m:t>
                    </m:r>
                  </m:oMath>
                </a14:m>
                <a:endParaRPr lang="en-US" sz="3600" dirty="0"/>
              </a:p>
            </p:txBody>
          </p:sp>
        </mc:Choice>
        <mc:Fallback xmlns=""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3D68646A-A2F1-7766-7C42-71F7CF9229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63650" y="19428805"/>
                <a:ext cx="6058450" cy="646331"/>
              </a:xfrm>
              <a:prstGeom prst="rect">
                <a:avLst/>
              </a:prstGeom>
              <a:blipFill>
                <a:blip r:embed="rId21"/>
                <a:stretch>
                  <a:fillRect l="-2929" t="-13462" b="-3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1" name="TextBox 170">
            <a:extLst>
              <a:ext uri="{FF2B5EF4-FFF2-40B4-BE49-F238E27FC236}">
                <a16:creationId xmlns:a16="http://schemas.microsoft.com/office/drawing/2014/main" id="{D7C2FB5E-5A91-CEB9-1E28-5EF7D630C710}"/>
              </a:ext>
            </a:extLst>
          </p:cNvPr>
          <p:cNvSpPr txBox="1"/>
          <p:nvPr/>
        </p:nvSpPr>
        <p:spPr>
          <a:xfrm>
            <a:off x="42426253" y="14874794"/>
            <a:ext cx="4034455" cy="107721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Obtain subgroup decisions</a:t>
            </a: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72" name="Picture 171">
            <a:extLst>
              <a:ext uri="{FF2B5EF4-FFF2-40B4-BE49-F238E27FC236}">
                <a16:creationId xmlns:a16="http://schemas.microsoft.com/office/drawing/2014/main" id="{E0E8F472-5CE0-4863-ED85-00EBFEA1CE8F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9989396" y="14874796"/>
            <a:ext cx="2168256" cy="1408575"/>
          </a:xfrm>
          <a:prstGeom prst="rect">
            <a:avLst/>
          </a:prstGeom>
        </p:spPr>
      </p:pic>
      <p:sp>
        <p:nvSpPr>
          <p:cNvPr id="173" name="Rectangle 172">
            <a:extLst>
              <a:ext uri="{FF2B5EF4-FFF2-40B4-BE49-F238E27FC236}">
                <a16:creationId xmlns:a16="http://schemas.microsoft.com/office/drawing/2014/main" id="{1663DAF4-A8B1-7D46-AE83-87FDEF500670}"/>
              </a:ext>
            </a:extLst>
          </p:cNvPr>
          <p:cNvSpPr/>
          <p:nvPr/>
        </p:nvSpPr>
        <p:spPr>
          <a:xfrm>
            <a:off x="38796585" y="5900886"/>
            <a:ext cx="8737132" cy="1454693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400"/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1DFF71A4-545D-C2AE-5CCC-EEC2CA025820}"/>
              </a:ext>
            </a:extLst>
          </p:cNvPr>
          <p:cNvSpPr txBox="1"/>
          <p:nvPr/>
        </p:nvSpPr>
        <p:spPr>
          <a:xfrm>
            <a:off x="42803355" y="17289815"/>
            <a:ext cx="394721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Cross-validation to obtain the best subgroup decision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AF945627-28AD-AA4D-9E99-BCCA95049B36}"/>
                  </a:ext>
                </a:extLst>
              </p:cNvPr>
              <p:cNvSpPr txBox="1"/>
              <p:nvPr/>
            </p:nvSpPr>
            <p:spPr>
              <a:xfrm>
                <a:off x="42443293" y="9411889"/>
                <a:ext cx="4034456" cy="158306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Use all HD features to predict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3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en-US" sz="3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𝑌</m:t>
                        </m:r>
                      </m:e>
                    </m:acc>
                    <m:r>
                      <a:rPr lang="en-US" sz="32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en-US" sz="3200" dirty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and 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3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en-US" sz="3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𝑊</m:t>
                        </m:r>
                      </m:e>
                    </m:acc>
                  </m:oMath>
                </a14:m>
                <a:r>
                  <a:rPr lang="en-US" sz="3200" dirty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, and grow raw CF</a:t>
                </a:r>
              </a:p>
            </p:txBody>
          </p:sp>
        </mc:Choice>
        <mc:Fallback xmlns=""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AF945627-28AD-AA4D-9E99-BCCA95049B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43293" y="9411889"/>
                <a:ext cx="4034456" cy="1583062"/>
              </a:xfrm>
              <a:prstGeom prst="rect">
                <a:avLst/>
              </a:prstGeom>
              <a:blipFill>
                <a:blip r:embed="rId23"/>
                <a:stretch>
                  <a:fillRect l="-3762" t="-5600" r="-627" b="-112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6" name="Picture 175">
            <a:extLst>
              <a:ext uri="{FF2B5EF4-FFF2-40B4-BE49-F238E27FC236}">
                <a16:creationId xmlns:a16="http://schemas.microsoft.com/office/drawing/2014/main" id="{12926419-1A01-7FE3-4732-A73F9FE1C870}"/>
              </a:ext>
            </a:extLst>
          </p:cNvPr>
          <p:cNvPicPr>
            <a:picLocks noChangeAspect="1"/>
          </p:cNvPicPr>
          <p:nvPr/>
        </p:nvPicPr>
        <p:blipFill rotWithShape="1">
          <a:blip r:embed="rId24"/>
          <a:srcRect l="21055" t="8901" r="11819" b="5979"/>
          <a:stretch/>
        </p:blipFill>
        <p:spPr>
          <a:xfrm>
            <a:off x="40062926" y="11609833"/>
            <a:ext cx="1822959" cy="2535825"/>
          </a:xfrm>
          <a:prstGeom prst="rect">
            <a:avLst/>
          </a:prstGeom>
        </p:spPr>
      </p:pic>
      <p:sp>
        <p:nvSpPr>
          <p:cNvPr id="177" name="Double Brace 176">
            <a:extLst>
              <a:ext uri="{FF2B5EF4-FFF2-40B4-BE49-F238E27FC236}">
                <a16:creationId xmlns:a16="http://schemas.microsoft.com/office/drawing/2014/main" id="{3A29163A-2147-D998-E5C6-E1342034A041}"/>
              </a:ext>
            </a:extLst>
          </p:cNvPr>
          <p:cNvSpPr/>
          <p:nvPr/>
        </p:nvSpPr>
        <p:spPr>
          <a:xfrm rot="5400000">
            <a:off x="40520235" y="16488604"/>
            <a:ext cx="1633779" cy="2548396"/>
          </a:xfrm>
          <a:prstGeom prst="bracePair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78" name="Table 177">
            <a:extLst>
              <a:ext uri="{FF2B5EF4-FFF2-40B4-BE49-F238E27FC236}">
                <a16:creationId xmlns:a16="http://schemas.microsoft.com/office/drawing/2014/main" id="{0CDDD3AB-0FF9-3762-3A4A-C83D0C30B1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447556"/>
              </p:ext>
            </p:extLst>
          </p:nvPr>
        </p:nvGraphicFramePr>
        <p:xfrm>
          <a:off x="39393838" y="17317811"/>
          <a:ext cx="3217485" cy="16312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3497">
                  <a:extLst>
                    <a:ext uri="{9D8B030D-6E8A-4147-A177-3AD203B41FA5}">
                      <a16:colId xmlns:a16="http://schemas.microsoft.com/office/drawing/2014/main" val="316931824"/>
                    </a:ext>
                  </a:extLst>
                </a:gridCol>
                <a:gridCol w="643497">
                  <a:extLst>
                    <a:ext uri="{9D8B030D-6E8A-4147-A177-3AD203B41FA5}">
                      <a16:colId xmlns:a16="http://schemas.microsoft.com/office/drawing/2014/main" val="3011631035"/>
                    </a:ext>
                  </a:extLst>
                </a:gridCol>
                <a:gridCol w="643497">
                  <a:extLst>
                    <a:ext uri="{9D8B030D-6E8A-4147-A177-3AD203B41FA5}">
                      <a16:colId xmlns:a16="http://schemas.microsoft.com/office/drawing/2014/main" val="3048001019"/>
                    </a:ext>
                  </a:extLst>
                </a:gridCol>
                <a:gridCol w="643497">
                  <a:extLst>
                    <a:ext uri="{9D8B030D-6E8A-4147-A177-3AD203B41FA5}">
                      <a16:colId xmlns:a16="http://schemas.microsoft.com/office/drawing/2014/main" val="1623211060"/>
                    </a:ext>
                  </a:extLst>
                </a:gridCol>
                <a:gridCol w="643497">
                  <a:extLst>
                    <a:ext uri="{9D8B030D-6E8A-4147-A177-3AD203B41FA5}">
                      <a16:colId xmlns:a16="http://schemas.microsoft.com/office/drawing/2014/main" val="3899614528"/>
                    </a:ext>
                  </a:extLst>
                </a:gridCol>
              </a:tblGrid>
              <a:tr h="326243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7527734"/>
                  </a:ext>
                </a:extLst>
              </a:tr>
              <a:tr h="326243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4389102"/>
                  </a:ext>
                </a:extLst>
              </a:tr>
              <a:tr h="326243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6620434"/>
                  </a:ext>
                </a:extLst>
              </a:tr>
              <a:tr h="326243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4129282"/>
                  </a:ext>
                </a:extLst>
              </a:tr>
              <a:tr h="326243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197779"/>
                  </a:ext>
                </a:extLst>
              </a:tr>
            </a:tbl>
          </a:graphicData>
        </a:graphic>
      </p:graphicFrame>
      <p:pic>
        <p:nvPicPr>
          <p:cNvPr id="185" name="Picture 184">
            <a:extLst>
              <a:ext uri="{FF2B5EF4-FFF2-40B4-BE49-F238E27FC236}">
                <a16:creationId xmlns:a16="http://schemas.microsoft.com/office/drawing/2014/main" id="{868A96CD-436B-E94F-0E2F-8D4EA3D6FF54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8883" t="4665" r="16527" b="17909"/>
          <a:stretch/>
        </p:blipFill>
        <p:spPr>
          <a:xfrm>
            <a:off x="39982703" y="9374569"/>
            <a:ext cx="1822959" cy="1587335"/>
          </a:xfrm>
          <a:prstGeom prst="rect">
            <a:avLst/>
          </a:prstGeom>
        </p:spPr>
      </p:pic>
      <p:cxnSp>
        <p:nvCxnSpPr>
          <p:cNvPr id="1482" name="Straight Arrow Connector 1481">
            <a:extLst>
              <a:ext uri="{FF2B5EF4-FFF2-40B4-BE49-F238E27FC236}">
                <a16:creationId xmlns:a16="http://schemas.microsoft.com/office/drawing/2014/main" id="{963486C2-6344-7930-EFEB-326C5C127235}"/>
              </a:ext>
            </a:extLst>
          </p:cNvPr>
          <p:cNvCxnSpPr>
            <a:cxnSpLocks/>
          </p:cNvCxnSpPr>
          <p:nvPr/>
        </p:nvCxnSpPr>
        <p:spPr>
          <a:xfrm flipV="1">
            <a:off x="41341155" y="16500332"/>
            <a:ext cx="0" cy="347185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3" name="Straight Arrow Connector 1482">
            <a:extLst>
              <a:ext uri="{FF2B5EF4-FFF2-40B4-BE49-F238E27FC236}">
                <a16:creationId xmlns:a16="http://schemas.microsoft.com/office/drawing/2014/main" id="{BA3F3505-1879-A7DC-3EC0-7AD9B04F76DF}"/>
              </a:ext>
            </a:extLst>
          </p:cNvPr>
          <p:cNvCxnSpPr>
            <a:cxnSpLocks/>
          </p:cNvCxnSpPr>
          <p:nvPr/>
        </p:nvCxnSpPr>
        <p:spPr>
          <a:xfrm>
            <a:off x="40938971" y="11155864"/>
            <a:ext cx="0" cy="342343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4" name="Straight Arrow Connector 1483">
            <a:extLst>
              <a:ext uri="{FF2B5EF4-FFF2-40B4-BE49-F238E27FC236}">
                <a16:creationId xmlns:a16="http://schemas.microsoft.com/office/drawing/2014/main" id="{018B3EE8-E87C-B30B-E6E4-8DB6CC841099}"/>
              </a:ext>
            </a:extLst>
          </p:cNvPr>
          <p:cNvCxnSpPr>
            <a:cxnSpLocks/>
          </p:cNvCxnSpPr>
          <p:nvPr/>
        </p:nvCxnSpPr>
        <p:spPr>
          <a:xfrm>
            <a:off x="40974403" y="14345574"/>
            <a:ext cx="0" cy="342343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85" name="TextBox 1484">
                <a:extLst>
                  <a:ext uri="{FF2B5EF4-FFF2-40B4-BE49-F238E27FC236}">
                    <a16:creationId xmlns:a16="http://schemas.microsoft.com/office/drawing/2014/main" id="{B06AE9A7-532E-C3CA-FBD6-F3744459E209}"/>
                  </a:ext>
                </a:extLst>
              </p:cNvPr>
              <p:cNvSpPr txBox="1"/>
              <p:nvPr/>
            </p:nvSpPr>
            <p:spPr>
              <a:xfrm>
                <a:off x="42443294" y="11963934"/>
                <a:ext cx="4034455" cy="1569660"/>
              </a:xfrm>
              <a:prstGeom prst="rect">
                <a:avLst/>
              </a:prstGeom>
              <a:solidFill>
                <a:srgbClr val="C1B2FF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Select top </a:t>
                </a:r>
                <a:r>
                  <a:rPr lang="en-US" sz="3200" i="1" dirty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</a:t>
                </a:r>
                <a:r>
                  <a:rPr lang="en-US" sz="3200" dirty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% (e.g., </a:t>
                </a:r>
                <a:r>
                  <a:rPr lang="en-US" sz="3200" i="1" dirty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</a:t>
                </a:r>
                <a:r>
                  <a:rPr lang="en-US" sz="3200" dirty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=5%) variables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3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𝑋</m:t>
                        </m:r>
                      </m:e>
                      <m:sub>
                        <m:r>
                          <a:rPr lang="en-US" sz="3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𝑆</m:t>
                        </m:r>
                        <m:r>
                          <a:rPr lang="en-US" sz="3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sz="3200" dirty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to grow </a:t>
                </a:r>
                <a:r>
                  <a:rPr lang="en-US" sz="3200" dirty="0" err="1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iCF</a:t>
                </a:r>
                <a:endParaRPr lang="en-US" sz="32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485" name="TextBox 1484">
                <a:extLst>
                  <a:ext uri="{FF2B5EF4-FFF2-40B4-BE49-F238E27FC236}">
                    <a16:creationId xmlns:a16="http://schemas.microsoft.com/office/drawing/2014/main" id="{B06AE9A7-532E-C3CA-FBD6-F3744459E2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43294" y="11963934"/>
                <a:ext cx="4034455" cy="1569660"/>
              </a:xfrm>
              <a:prstGeom prst="rect">
                <a:avLst/>
              </a:prstGeom>
              <a:blipFill>
                <a:blip r:embed="rId25"/>
                <a:stretch>
                  <a:fillRect l="-3762" t="-4839" b="-1129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86" name="Double Bracket 1485">
            <a:extLst>
              <a:ext uri="{FF2B5EF4-FFF2-40B4-BE49-F238E27FC236}">
                <a16:creationId xmlns:a16="http://schemas.microsoft.com/office/drawing/2014/main" id="{F4C92E67-ABB5-0F6E-F53E-A7AA4989BB26}"/>
              </a:ext>
            </a:extLst>
          </p:cNvPr>
          <p:cNvSpPr/>
          <p:nvPr/>
        </p:nvSpPr>
        <p:spPr>
          <a:xfrm>
            <a:off x="39553945" y="8910490"/>
            <a:ext cx="7494645" cy="7548798"/>
          </a:xfrm>
          <a:prstGeom prst="bracketPair">
            <a:avLst>
              <a:gd name="adj" fmla="val 3485"/>
            </a:avLst>
          </a:prstGeom>
          <a:ln w="254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7" name="Down Arrow 1486">
            <a:extLst>
              <a:ext uri="{FF2B5EF4-FFF2-40B4-BE49-F238E27FC236}">
                <a16:creationId xmlns:a16="http://schemas.microsoft.com/office/drawing/2014/main" id="{53B0D34E-3840-4D17-8125-8FAE056F0061}"/>
              </a:ext>
            </a:extLst>
          </p:cNvPr>
          <p:cNvSpPr/>
          <p:nvPr/>
        </p:nvSpPr>
        <p:spPr>
          <a:xfrm rot="16200000">
            <a:off x="48169005" y="8917299"/>
            <a:ext cx="538653" cy="1685203"/>
          </a:xfrm>
          <a:prstGeom prst="downArrow">
            <a:avLst/>
          </a:prstGeom>
          <a:solidFill>
            <a:srgbClr val="5B9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33"/>
          </a:p>
        </p:txBody>
      </p:sp>
      <p:sp>
        <p:nvSpPr>
          <p:cNvPr id="1488" name="Down Arrow 1487">
            <a:extLst>
              <a:ext uri="{FF2B5EF4-FFF2-40B4-BE49-F238E27FC236}">
                <a16:creationId xmlns:a16="http://schemas.microsoft.com/office/drawing/2014/main" id="{9D251D3C-EBC6-54EC-C8BF-99FB27948D02}"/>
              </a:ext>
            </a:extLst>
          </p:cNvPr>
          <p:cNvSpPr/>
          <p:nvPr/>
        </p:nvSpPr>
        <p:spPr>
          <a:xfrm rot="16200000">
            <a:off x="48164109" y="15260070"/>
            <a:ext cx="538653" cy="1685203"/>
          </a:xfrm>
          <a:prstGeom prst="downArrow">
            <a:avLst/>
          </a:prstGeom>
          <a:solidFill>
            <a:srgbClr val="C113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33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510BCA-3C76-5BEE-8223-951045F1BC0F}"/>
              </a:ext>
            </a:extLst>
          </p:cNvPr>
          <p:cNvSpPr txBox="1"/>
          <p:nvPr/>
        </p:nvSpPr>
        <p:spPr>
          <a:xfrm rot="18750134">
            <a:off x="14901881" y="2996872"/>
            <a:ext cx="24197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K variables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F888D81-94AC-CE65-BA6C-30EF32ABFF41}"/>
              </a:ext>
            </a:extLst>
          </p:cNvPr>
          <p:cNvSpPr txBox="1"/>
          <p:nvPr/>
        </p:nvSpPr>
        <p:spPr>
          <a:xfrm>
            <a:off x="23700556" y="18786991"/>
            <a:ext cx="2022931" cy="2554545"/>
          </a:xfrm>
          <a:prstGeom prst="rect">
            <a:avLst/>
          </a:prstGeom>
          <a:solidFill>
            <a:schemeClr val="bg1"/>
          </a:solidFill>
          <a:ln>
            <a:noFill/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3200" dirty="0"/>
              <a:t>Variable selection based on </a:t>
            </a:r>
            <a:r>
              <a:rPr lang="en-US" sz="3200" dirty="0" err="1"/>
              <a:t>Bross</a:t>
            </a:r>
            <a:r>
              <a:rPr lang="en-US" sz="3200" dirty="0"/>
              <a:t> formula 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BE3A75A-38E0-5AE5-F657-71C6AC15C2E2}"/>
              </a:ext>
            </a:extLst>
          </p:cNvPr>
          <p:cNvSpPr/>
          <p:nvPr/>
        </p:nvSpPr>
        <p:spPr>
          <a:xfrm>
            <a:off x="14735283" y="1874091"/>
            <a:ext cx="11230851" cy="1098725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7DF1122-5129-8548-9253-ECF757C8BA8D}"/>
              </a:ext>
            </a:extLst>
          </p:cNvPr>
          <p:cNvSpPr txBox="1"/>
          <p:nvPr/>
        </p:nvSpPr>
        <p:spPr>
          <a:xfrm rot="18750134">
            <a:off x="14788711" y="15236211"/>
            <a:ext cx="24197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K variables</a:t>
            </a: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7BA09998-F0C7-0376-F75C-325D7AFC7C0D}"/>
              </a:ext>
            </a:extLst>
          </p:cNvPr>
          <p:cNvSpPr/>
          <p:nvPr/>
        </p:nvSpPr>
        <p:spPr>
          <a:xfrm>
            <a:off x="14653772" y="14342171"/>
            <a:ext cx="11320463" cy="1159969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73" name="Left Brace 1472">
            <a:extLst>
              <a:ext uri="{FF2B5EF4-FFF2-40B4-BE49-F238E27FC236}">
                <a16:creationId xmlns:a16="http://schemas.microsoft.com/office/drawing/2014/main" id="{108FE890-B4DE-EB25-7E96-C497897EAB51}"/>
              </a:ext>
            </a:extLst>
          </p:cNvPr>
          <p:cNvSpPr/>
          <p:nvPr/>
        </p:nvSpPr>
        <p:spPr>
          <a:xfrm rot="13383871">
            <a:off x="22295833" y="19701105"/>
            <a:ext cx="383044" cy="3481391"/>
          </a:xfrm>
          <a:prstGeom prst="leftBrace">
            <a:avLst>
              <a:gd name="adj1" fmla="val 83985"/>
              <a:gd name="adj2" fmla="val 51807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78" name="Straight Arrow Connector 1477">
            <a:extLst>
              <a:ext uri="{FF2B5EF4-FFF2-40B4-BE49-F238E27FC236}">
                <a16:creationId xmlns:a16="http://schemas.microsoft.com/office/drawing/2014/main" id="{90291B23-AC0A-BF5B-0E60-B6783488CB36}"/>
              </a:ext>
            </a:extLst>
          </p:cNvPr>
          <p:cNvCxnSpPr>
            <a:cxnSpLocks/>
          </p:cNvCxnSpPr>
          <p:nvPr/>
        </p:nvCxnSpPr>
        <p:spPr>
          <a:xfrm>
            <a:off x="22878786" y="21487297"/>
            <a:ext cx="2161408" cy="0"/>
          </a:xfrm>
          <a:prstGeom prst="straightConnector1">
            <a:avLst/>
          </a:prstGeom>
          <a:ln w="63500">
            <a:solidFill>
              <a:srgbClr val="C11334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9" name="Straight Arrow Connector 1488">
            <a:extLst>
              <a:ext uri="{FF2B5EF4-FFF2-40B4-BE49-F238E27FC236}">
                <a16:creationId xmlns:a16="http://schemas.microsoft.com/office/drawing/2014/main" id="{7500BC36-0909-F353-EB5C-469B7142D879}"/>
              </a:ext>
            </a:extLst>
          </p:cNvPr>
          <p:cNvCxnSpPr>
            <a:cxnSpLocks/>
          </p:cNvCxnSpPr>
          <p:nvPr/>
        </p:nvCxnSpPr>
        <p:spPr>
          <a:xfrm>
            <a:off x="25029531" y="21494962"/>
            <a:ext cx="0" cy="1107668"/>
          </a:xfrm>
          <a:prstGeom prst="straightConnector1">
            <a:avLst/>
          </a:prstGeom>
          <a:ln w="63500">
            <a:solidFill>
              <a:srgbClr val="C1133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7" name="Left Brace 1496">
            <a:extLst>
              <a:ext uri="{FF2B5EF4-FFF2-40B4-BE49-F238E27FC236}">
                <a16:creationId xmlns:a16="http://schemas.microsoft.com/office/drawing/2014/main" id="{C8B6B449-62CA-4848-9CB0-D9652A57F593}"/>
              </a:ext>
            </a:extLst>
          </p:cNvPr>
          <p:cNvSpPr/>
          <p:nvPr/>
        </p:nvSpPr>
        <p:spPr>
          <a:xfrm rot="16200000">
            <a:off x="20054115" y="4800902"/>
            <a:ext cx="280091" cy="10202159"/>
          </a:xfrm>
          <a:prstGeom prst="leftBrace">
            <a:avLst>
              <a:gd name="adj1" fmla="val 83985"/>
              <a:gd name="adj2" fmla="val 51807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98" name="TextBox 1497">
            <a:extLst>
              <a:ext uri="{FF2B5EF4-FFF2-40B4-BE49-F238E27FC236}">
                <a16:creationId xmlns:a16="http://schemas.microsoft.com/office/drawing/2014/main" id="{40C9CCDD-B892-C23D-6B24-FD29F5D0F3AF}"/>
              </a:ext>
            </a:extLst>
          </p:cNvPr>
          <p:cNvSpPr txBox="1"/>
          <p:nvPr/>
        </p:nvSpPr>
        <p:spPr>
          <a:xfrm>
            <a:off x="18507435" y="10180756"/>
            <a:ext cx="4163838" cy="784830"/>
          </a:xfrm>
          <a:prstGeom prst="rect">
            <a:avLst/>
          </a:prstGeom>
          <a:solidFill>
            <a:srgbClr val="DEECF8"/>
          </a:solidFill>
          <a:ln>
            <a:noFill/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4500" dirty="0"/>
              <a:t>All HD variables</a:t>
            </a:r>
          </a:p>
        </p:txBody>
      </p:sp>
      <p:sp>
        <p:nvSpPr>
          <p:cNvPr id="1499" name="TextBox 1498">
            <a:extLst>
              <a:ext uri="{FF2B5EF4-FFF2-40B4-BE49-F238E27FC236}">
                <a16:creationId xmlns:a16="http://schemas.microsoft.com/office/drawing/2014/main" id="{BD468D5A-121F-CCFA-9E2E-8FFC69F4C7DB}"/>
              </a:ext>
            </a:extLst>
          </p:cNvPr>
          <p:cNvSpPr txBox="1"/>
          <p:nvPr/>
        </p:nvSpPr>
        <p:spPr>
          <a:xfrm>
            <a:off x="17633105" y="23370017"/>
            <a:ext cx="5400017" cy="784830"/>
          </a:xfrm>
          <a:prstGeom prst="rect">
            <a:avLst/>
          </a:prstGeom>
          <a:solidFill>
            <a:srgbClr val="F6E6E6"/>
          </a:solidFill>
          <a:ln>
            <a:noFill/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4500" dirty="0"/>
              <a:t>Selected HD variables</a:t>
            </a:r>
          </a:p>
        </p:txBody>
      </p:sp>
      <p:sp>
        <p:nvSpPr>
          <p:cNvPr id="1500" name="Left Brace 1499">
            <a:extLst>
              <a:ext uri="{FF2B5EF4-FFF2-40B4-BE49-F238E27FC236}">
                <a16:creationId xmlns:a16="http://schemas.microsoft.com/office/drawing/2014/main" id="{3DD8C901-23F2-FC19-E991-43A2403B388D}"/>
              </a:ext>
            </a:extLst>
          </p:cNvPr>
          <p:cNvSpPr/>
          <p:nvPr/>
        </p:nvSpPr>
        <p:spPr>
          <a:xfrm rot="16200000">
            <a:off x="20106599" y="17890402"/>
            <a:ext cx="280091" cy="10202159"/>
          </a:xfrm>
          <a:prstGeom prst="leftBrace">
            <a:avLst>
              <a:gd name="adj1" fmla="val 83985"/>
              <a:gd name="adj2" fmla="val 51807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03" name="TextBox 1502">
            <a:extLst>
              <a:ext uri="{FF2B5EF4-FFF2-40B4-BE49-F238E27FC236}">
                <a16:creationId xmlns:a16="http://schemas.microsoft.com/office/drawing/2014/main" id="{BAA9B612-527A-B066-E20F-AAD17DF9F230}"/>
              </a:ext>
            </a:extLst>
          </p:cNvPr>
          <p:cNvSpPr txBox="1"/>
          <p:nvPr/>
        </p:nvSpPr>
        <p:spPr>
          <a:xfrm>
            <a:off x="18853428" y="25058809"/>
            <a:ext cx="2940429" cy="5847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accent5">
                    <a:lumMod val="10000"/>
                  </a:schemeClr>
                </a:solidFill>
              </a:rPr>
              <a:t>age, sex,</a:t>
            </a:r>
            <a:r>
              <a:rPr lang="zh-CN" altLang="en-US" sz="3200" dirty="0">
                <a:solidFill>
                  <a:schemeClr val="accent5">
                    <a:lumMod val="10000"/>
                  </a:schemeClr>
                </a:solidFill>
              </a:rPr>
              <a:t> </a:t>
            </a:r>
            <a:r>
              <a:rPr lang="en-US" sz="3200" dirty="0">
                <a:solidFill>
                  <a:schemeClr val="accent5">
                    <a:lumMod val="10000"/>
                  </a:schemeClr>
                </a:solidFill>
              </a:rPr>
              <a:t>race</a:t>
            </a:r>
          </a:p>
        </p:txBody>
      </p:sp>
      <p:sp>
        <p:nvSpPr>
          <p:cNvPr id="1504" name="TextBox 1503">
            <a:extLst>
              <a:ext uri="{FF2B5EF4-FFF2-40B4-BE49-F238E27FC236}">
                <a16:creationId xmlns:a16="http://schemas.microsoft.com/office/drawing/2014/main" id="{3CA92C85-7930-37BE-FA98-4CF4D3A4EB77}"/>
              </a:ext>
            </a:extLst>
          </p:cNvPr>
          <p:cNvSpPr txBox="1"/>
          <p:nvPr/>
        </p:nvSpPr>
        <p:spPr>
          <a:xfrm>
            <a:off x="20057171" y="24206803"/>
            <a:ext cx="471604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500" dirty="0"/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21142504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50232</TotalTime>
  <Words>380</Words>
  <Application>Microsoft Macintosh PowerPoint</Application>
  <PresentationFormat>Custom</PresentationFormat>
  <Paragraphs>68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2013 - 2022 Theme</vt:lpstr>
      <vt:lpstr>PowerPoint Presentation</vt:lpstr>
    </vt:vector>
  </TitlesOfParts>
  <Company>UNC Chapel Hill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Tian Wang</dc:creator>
  <cp:lastModifiedBy>Wang, Tiansheng</cp:lastModifiedBy>
  <cp:revision>823</cp:revision>
  <cp:lastPrinted>2024-06-14T01:09:04Z</cp:lastPrinted>
  <dcterms:created xsi:type="dcterms:W3CDTF">2020-10-14T01:23:06Z</dcterms:created>
  <dcterms:modified xsi:type="dcterms:W3CDTF">2024-10-31T18:51:54Z</dcterms:modified>
</cp:coreProperties>
</file>